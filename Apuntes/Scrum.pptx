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2" r:id="rId3"/>
    <p:sldId id="257" r:id="rId4"/>
    <p:sldId id="258" r:id="rId5"/>
    <p:sldId id="276" r:id="rId6"/>
    <p:sldId id="282" r:id="rId7"/>
    <p:sldId id="283" r:id="rId8"/>
    <p:sldId id="284" r:id="rId9"/>
    <p:sldId id="285" r:id="rId10"/>
    <p:sldId id="286" r:id="rId11"/>
    <p:sldId id="259" r:id="rId12"/>
    <p:sldId id="260" r:id="rId13"/>
    <p:sldId id="277" r:id="rId14"/>
    <p:sldId id="261" r:id="rId15"/>
    <p:sldId id="262" r:id="rId16"/>
    <p:sldId id="273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4" r:id="rId27"/>
    <p:sldId id="275" r:id="rId28"/>
    <p:sldId id="279" r:id="rId29"/>
    <p:sldId id="278" r:id="rId30"/>
    <p:sldId id="280" r:id="rId31"/>
    <p:sldId id="281" r:id="rId3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8575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2308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119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67013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2594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2694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58025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51721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7911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933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17308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7761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20172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76988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8746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5906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7373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96BE652-567D-4A63-9401-BFE1E02570B5}" type="datetimeFigureOut">
              <a:rPr lang="es-AR" smtClean="0"/>
              <a:t>12/9/2018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85235-FD53-4D65-B6EC-89582264E8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9252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tmp"/><Relationship Id="rId4" Type="http://schemas.openxmlformats.org/officeDocument/2006/relationships/image" Target="../media/image22.tm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err="1" smtClean="0"/>
              <a:t>Scrum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9034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 descr="Recorte de pantalla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343347"/>
            <a:ext cx="9698681" cy="5493333"/>
          </a:xfrm>
        </p:spPr>
      </p:pic>
    </p:spTree>
    <p:extLst>
      <p:ext uri="{BB962C8B-B14F-4D97-AF65-F5344CB8AC3E}">
        <p14:creationId xmlns:p14="http://schemas.microsoft.com/office/powerpoint/2010/main" val="1019178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Artefactos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Pila del producto</a:t>
            </a:r>
          </a:p>
          <a:p>
            <a:r>
              <a:rPr lang="es-AR" dirty="0" smtClean="0"/>
              <a:t>Pila del sprint</a:t>
            </a:r>
          </a:p>
          <a:p>
            <a:r>
              <a:rPr lang="es-AR" dirty="0" smtClean="0"/>
              <a:t>Incremento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4757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Pila del producto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2604" y="2065981"/>
            <a:ext cx="8946541" cy="4195481"/>
          </a:xfrm>
        </p:spPr>
        <p:txBody>
          <a:bodyPr>
            <a:normAutofit fontScale="92500" lnSpcReduction="10000"/>
          </a:bodyPr>
          <a:lstStyle/>
          <a:p>
            <a:r>
              <a:rPr lang="es-AR" dirty="0" smtClean="0"/>
              <a:t>Responsabilidad del cliente</a:t>
            </a:r>
          </a:p>
          <a:p>
            <a:r>
              <a:rPr lang="es-AR" dirty="0" smtClean="0"/>
              <a:t>Requisitos del sistema desde el punto de vista del cliente. Funcionalidad.</a:t>
            </a:r>
          </a:p>
          <a:p>
            <a:r>
              <a:rPr lang="es-AR" dirty="0" smtClean="0"/>
              <a:t>Documento vivo.</a:t>
            </a:r>
          </a:p>
          <a:p>
            <a:r>
              <a:rPr lang="es-AR" dirty="0" smtClean="0"/>
              <a:t>Se realiza y evoluciona con el aporte de todos.</a:t>
            </a:r>
          </a:p>
          <a:p>
            <a:r>
              <a:rPr lang="es-AR" dirty="0" smtClean="0"/>
              <a:t>Necesaria la visión del objetivo del negocio.</a:t>
            </a:r>
          </a:p>
          <a:p>
            <a:r>
              <a:rPr lang="es-AR" dirty="0" smtClean="0"/>
              <a:t>Tormenta de ideas.</a:t>
            </a:r>
          </a:p>
          <a:p>
            <a:r>
              <a:rPr lang="es-AR" dirty="0" smtClean="0"/>
              <a:t>El formato es irrelevante.</a:t>
            </a:r>
          </a:p>
          <a:p>
            <a:r>
              <a:rPr lang="es-AR" dirty="0" smtClean="0"/>
              <a:t>Funcionalidad priorizada.</a:t>
            </a:r>
          </a:p>
          <a:p>
            <a:r>
              <a:rPr lang="es-AR" dirty="0" smtClean="0"/>
              <a:t>Mayor prioridad… mayor detalle.</a:t>
            </a:r>
          </a:p>
          <a:p>
            <a:r>
              <a:rPr lang="es-AR" dirty="0" smtClean="0"/>
              <a:t>NO es un </a:t>
            </a:r>
            <a:r>
              <a:rPr lang="es-AR" dirty="0" err="1" smtClean="0"/>
              <a:t>doc</a:t>
            </a:r>
            <a:r>
              <a:rPr lang="es-AR" dirty="0" smtClean="0"/>
              <a:t> de requerimientos.</a:t>
            </a:r>
          </a:p>
          <a:p>
            <a:endParaRPr lang="es-AR" dirty="0" smtClean="0"/>
          </a:p>
          <a:p>
            <a:endParaRPr lang="es-AR" dirty="0"/>
          </a:p>
        </p:txBody>
      </p:sp>
      <p:pic>
        <p:nvPicPr>
          <p:cNvPr id="4" name="Imagen 3" descr="Recorte de pantal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296" y="3582929"/>
            <a:ext cx="5595704" cy="318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727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 descr="Recorte de pantalla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936" y="2240490"/>
            <a:ext cx="6477904" cy="3820058"/>
          </a:xfrm>
        </p:spPr>
      </p:pic>
    </p:spTree>
    <p:extLst>
      <p:ext uri="{BB962C8B-B14F-4D97-AF65-F5344CB8AC3E}">
        <p14:creationId xmlns:p14="http://schemas.microsoft.com/office/powerpoint/2010/main" val="2656103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Historias de usuarios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COMO &lt;rol&gt; QUIERO &lt;evento&gt; PARA &lt;funcionalidad&gt;</a:t>
            </a:r>
          </a:p>
          <a:p>
            <a:r>
              <a:rPr lang="es-AR" dirty="0" err="1" smtClean="0"/>
              <a:t>Ej</a:t>
            </a:r>
            <a:r>
              <a:rPr lang="es-AR" dirty="0" smtClean="0"/>
              <a:t>:</a:t>
            </a:r>
          </a:p>
          <a:p>
            <a:pPr lvl="1"/>
            <a:r>
              <a:rPr lang="es-AR" dirty="0" smtClean="0"/>
              <a:t>COMO usuario de la tienda online QUIERO presionar el botón ordenar x precio PARA escoger el producto mas económico.</a:t>
            </a:r>
          </a:p>
          <a:p>
            <a:pPr lvl="1"/>
            <a:r>
              <a:rPr lang="es-AR" dirty="0" smtClean="0"/>
              <a:t>COMO usuario web QUIERO consultar los pedidos PARA saber los que faltan despachar.</a:t>
            </a:r>
          </a:p>
          <a:p>
            <a:pPr lvl="1"/>
            <a:r>
              <a:rPr lang="es-AR" dirty="0" smtClean="0"/>
              <a:t>COMO  gerente de ventas QUIERO ver los presupuestos confirmados x producto PARA conocer los productos que estamos perdiendo ventas.</a:t>
            </a:r>
          </a:p>
          <a:p>
            <a:pPr lvl="1"/>
            <a:r>
              <a:rPr lang="es-AR" dirty="0" smtClean="0"/>
              <a:t>COMO usuario final QUIERO poder restablecer la contraseña PARA acceder a mi cuenta en caso de olvido de la misma.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46920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AR" dirty="0" smtClean="0"/>
              <a:t>Las 3 C de las historias de usuario:</a:t>
            </a:r>
          </a:p>
          <a:p>
            <a:pPr lvl="1"/>
            <a:r>
              <a:rPr lang="es-AR" dirty="0" err="1" smtClean="0"/>
              <a:t>Card</a:t>
            </a:r>
            <a:r>
              <a:rPr lang="es-AR" dirty="0" smtClean="0"/>
              <a:t> de tarjeta de usuario.</a:t>
            </a:r>
          </a:p>
          <a:p>
            <a:pPr lvl="1"/>
            <a:r>
              <a:rPr lang="es-AR" dirty="0" err="1" smtClean="0"/>
              <a:t>Conversation</a:t>
            </a:r>
            <a:r>
              <a:rPr lang="es-AR" dirty="0" smtClean="0"/>
              <a:t>: conversar con el </a:t>
            </a:r>
            <a:r>
              <a:rPr lang="es-AR" dirty="0" err="1" smtClean="0"/>
              <a:t>product</a:t>
            </a:r>
            <a:r>
              <a:rPr lang="es-AR" dirty="0" smtClean="0"/>
              <a:t> </a:t>
            </a:r>
            <a:r>
              <a:rPr lang="es-AR" dirty="0" err="1" smtClean="0"/>
              <a:t>owner</a:t>
            </a:r>
            <a:r>
              <a:rPr lang="es-AR" dirty="0" smtClean="0"/>
              <a:t> sobre los detalles.</a:t>
            </a:r>
          </a:p>
          <a:p>
            <a:pPr lvl="1"/>
            <a:r>
              <a:rPr lang="es-AR" dirty="0" err="1" smtClean="0"/>
              <a:t>Confirmation</a:t>
            </a:r>
            <a:r>
              <a:rPr lang="es-AR" dirty="0" smtClean="0"/>
              <a:t>: criterios de  aceptación</a:t>
            </a:r>
          </a:p>
          <a:p>
            <a:pPr lvl="1"/>
            <a:endParaRPr lang="es-AR" dirty="0"/>
          </a:p>
          <a:p>
            <a:r>
              <a:rPr lang="es-AR" dirty="0" smtClean="0"/>
              <a:t>INVEST</a:t>
            </a:r>
          </a:p>
          <a:p>
            <a:pPr lvl="1"/>
            <a:r>
              <a:rPr lang="es-AR" dirty="0" smtClean="0"/>
              <a:t>Independientes entre si</a:t>
            </a:r>
          </a:p>
          <a:p>
            <a:pPr lvl="1"/>
            <a:r>
              <a:rPr lang="es-AR" dirty="0" smtClean="0"/>
              <a:t>Negociables</a:t>
            </a:r>
          </a:p>
          <a:p>
            <a:pPr lvl="1"/>
            <a:r>
              <a:rPr lang="es-AR" dirty="0" smtClean="0"/>
              <a:t>Valor para el usuario</a:t>
            </a:r>
          </a:p>
          <a:p>
            <a:pPr lvl="1"/>
            <a:r>
              <a:rPr lang="es-AR" dirty="0" smtClean="0"/>
              <a:t>Estimable</a:t>
            </a:r>
          </a:p>
          <a:p>
            <a:pPr lvl="1"/>
            <a:r>
              <a:rPr lang="es-AR" dirty="0" smtClean="0"/>
              <a:t>Small</a:t>
            </a:r>
          </a:p>
          <a:p>
            <a:pPr lvl="1"/>
            <a:r>
              <a:rPr lang="es-AR" dirty="0" err="1" smtClean="0"/>
              <a:t>Testeable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52660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Ejemplos</a:t>
            </a:r>
            <a:endParaRPr lang="es-A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61259" y="1773193"/>
            <a:ext cx="11721736" cy="3693270"/>
          </a:xfrm>
          <a:prstGeom prst="rect">
            <a:avLst/>
          </a:prstGeom>
          <a:solidFill>
            <a:srgbClr val="E4EB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76176" rIns="9144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Ejemplo 3: La historia de usuario “Quiero publicar una entrada básica de blog”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Veamos un ejemplo completo de una historia de usuario relacionada con la creación de blogs y la publicación de entradas al blog.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Carta: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Como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 Bloguero (&lt;</a:t>
            </a: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rol de usuario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&gt;) </a:t>
            </a:r>
            <a:r>
              <a:rPr kumimoji="0" lang="es-AR" altLang="es-AR" sz="1200" b="0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quiero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 ser capaz de publicar entradas en un blog (&lt;</a:t>
            </a: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lo que hago con el sistema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&gt;) </a:t>
            </a:r>
            <a:r>
              <a:rPr kumimoji="0" lang="es-AR" altLang="es-AR" sz="1200" b="0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para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 aumentar mi credibilidad y posicionarme como experto en el área de mi interés (&lt;</a:t>
            </a:r>
            <a:r>
              <a:rPr kumimoji="0" lang="es-AR" altLang="es-A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valor del negocio que recibo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&gt;).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Conversación: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P1. ¿Cuál es su área de interés? (El equipo al Bloguero)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R1. El área de mi interés es la literatura contemporánea hispanoamericana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P2. ¿Cuál es el público esperado?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R2. El público esperado es el compuesto por jóvenes y adultos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P3. ¿Cuál es la frecuencia de publicación?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R3. El objetivo es publicar una entrada quincenal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(Sigue…)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En el caso de </a:t>
            </a:r>
            <a:r>
              <a:rPr kumimoji="0" lang="es-AR" altLang="es-AR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Scrum</a:t>
            </a:r>
            <a:r>
              <a:rPr kumimoji="0" lang="es-AR" altLang="es-A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esta conversación se da típicamente durante la planeación del sprint, al principio del mismo, y durante el sprint.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Confirmación (criterios de aceptación):</a:t>
            </a: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 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El contenido de las entradas debe ser texto principalmente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El sistema debe permitir entradas de hasta tres mil palabras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Cada entrada debe llevar un título de hasta 256 caracteres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Cada entrada debe publicarse en una página separada</a:t>
            </a:r>
            <a:endParaRPr kumimoji="0" lang="es-AR" altLang="es-AR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Print" panose="02000600000000000000" pitchFamily="2" charset="0"/>
              </a:rPr>
              <a:t>(Sigue…)</a:t>
            </a:r>
            <a:endParaRPr kumimoji="0" lang="es-AR" alt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087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/>
          <a:srcRect l="15196" t="28090" r="40931" b="7537"/>
          <a:stretch/>
        </p:blipFill>
        <p:spPr>
          <a:xfrm>
            <a:off x="1964701" y="452718"/>
            <a:ext cx="7950007" cy="621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14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12987" t="9215" r="43741" b="-188"/>
          <a:stretch/>
        </p:blipFill>
        <p:spPr>
          <a:xfrm>
            <a:off x="2847703" y="-15735"/>
            <a:ext cx="6152606" cy="689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22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Pila del sprint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Descomposición de la pila del producto en tareas.</a:t>
            </a:r>
          </a:p>
          <a:p>
            <a:r>
              <a:rPr lang="es-AR" dirty="0" smtClean="0"/>
              <a:t>Responsable es el equipo.</a:t>
            </a:r>
          </a:p>
          <a:p>
            <a:r>
              <a:rPr lang="es-AR" dirty="0" smtClean="0"/>
              <a:t>Planificación del sprint. </a:t>
            </a:r>
          </a:p>
          <a:p>
            <a:r>
              <a:rPr lang="es-AR" dirty="0" smtClean="0"/>
              <a:t>Descomposición. Avance diario.</a:t>
            </a:r>
          </a:p>
          <a:p>
            <a:r>
              <a:rPr lang="es-AR" dirty="0" smtClean="0"/>
              <a:t>Solo el equipo puede modificarla.</a:t>
            </a:r>
          </a:p>
          <a:p>
            <a:r>
              <a:rPr lang="es-AR" dirty="0" smtClean="0"/>
              <a:t>Visible.</a:t>
            </a:r>
          </a:p>
          <a:p>
            <a:endParaRPr lang="es-AR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68817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Marcador de contenido 4" descr="Recorte de pantalla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851" y="210585"/>
            <a:ext cx="8046720" cy="6037815"/>
          </a:xfrm>
        </p:spPr>
      </p:pic>
    </p:spTree>
    <p:extLst>
      <p:ext uri="{BB962C8B-B14F-4D97-AF65-F5344CB8AC3E}">
        <p14:creationId xmlns:p14="http://schemas.microsoft.com/office/powerpoint/2010/main" val="3371641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 descr="Recorte de pantalla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594" y="998881"/>
            <a:ext cx="8888240" cy="4971168"/>
          </a:xfrm>
        </p:spPr>
      </p:pic>
    </p:spTree>
    <p:extLst>
      <p:ext uri="{BB962C8B-B14F-4D97-AF65-F5344CB8AC3E}">
        <p14:creationId xmlns:p14="http://schemas.microsoft.com/office/powerpoint/2010/main" val="3789343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Incremento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Producto obtenido durante un sprint.</a:t>
            </a:r>
          </a:p>
          <a:p>
            <a:r>
              <a:rPr lang="es-AR" dirty="0" smtClean="0"/>
              <a:t>En condiciones de entregarse al cliente.</a:t>
            </a:r>
          </a:p>
          <a:p>
            <a:r>
              <a:rPr lang="es-AR" dirty="0" smtClean="0"/>
              <a:t>El primer sprint puede ser una excepción a tener algo operativo.</a:t>
            </a:r>
          </a:p>
        </p:txBody>
      </p:sp>
    </p:spTree>
    <p:extLst>
      <p:ext uri="{BB962C8B-B14F-4D97-AF65-F5344CB8AC3E}">
        <p14:creationId xmlns:p14="http://schemas.microsoft.com/office/powerpoint/2010/main" val="531018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Eventos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Sprint.</a:t>
            </a:r>
          </a:p>
          <a:p>
            <a:r>
              <a:rPr lang="es-AR" dirty="0" smtClean="0"/>
              <a:t>Reunión de planificación del sprint.</a:t>
            </a:r>
          </a:p>
          <a:p>
            <a:r>
              <a:rPr lang="es-AR" dirty="0" err="1" smtClean="0"/>
              <a:t>Scrum</a:t>
            </a:r>
            <a:r>
              <a:rPr lang="es-AR" dirty="0" smtClean="0"/>
              <a:t> diario.</a:t>
            </a:r>
          </a:p>
          <a:p>
            <a:r>
              <a:rPr lang="es-AR" dirty="0" smtClean="0"/>
              <a:t>Revisión del sprint.</a:t>
            </a:r>
          </a:p>
          <a:p>
            <a:r>
              <a:rPr lang="es-AR" dirty="0" smtClean="0"/>
              <a:t>Retrospectiva del sprint.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9766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Marcador de contenido 3" descr="Recorte de pantalla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95" y="758957"/>
            <a:ext cx="9707190" cy="5784630"/>
          </a:xfrm>
        </p:spPr>
      </p:pic>
    </p:spTree>
    <p:extLst>
      <p:ext uri="{BB962C8B-B14F-4D97-AF65-F5344CB8AC3E}">
        <p14:creationId xmlns:p14="http://schemas.microsoft.com/office/powerpoint/2010/main" val="889340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Planificación del sprint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221" y="2105170"/>
            <a:ext cx="8946541" cy="4195481"/>
          </a:xfrm>
        </p:spPr>
        <p:txBody>
          <a:bodyPr>
            <a:normAutofit fontScale="92500" lnSpcReduction="10000"/>
          </a:bodyPr>
          <a:lstStyle/>
          <a:p>
            <a:r>
              <a:rPr lang="es-AR" dirty="0" smtClean="0"/>
              <a:t>Prioridades y necesidades del cliente.</a:t>
            </a:r>
          </a:p>
          <a:p>
            <a:r>
              <a:rPr lang="es-AR" dirty="0" smtClean="0"/>
              <a:t>Funcionalidad a incorporar en el sprint.</a:t>
            </a:r>
          </a:p>
          <a:p>
            <a:r>
              <a:rPr lang="es-AR" dirty="0" err="1" smtClean="0"/>
              <a:t>Scrum</a:t>
            </a:r>
            <a:r>
              <a:rPr lang="es-AR" dirty="0" smtClean="0"/>
              <a:t> Master, propietario del producto y equipo.</a:t>
            </a:r>
          </a:p>
          <a:p>
            <a:r>
              <a:rPr lang="es-AR" dirty="0" smtClean="0"/>
              <a:t>Duración: 1 día</a:t>
            </a:r>
          </a:p>
          <a:p>
            <a:r>
              <a:rPr lang="es-AR" dirty="0" smtClean="0"/>
              <a:t>Respuestas: ¿Qué entregamos? Trabajo necesario.</a:t>
            </a:r>
          </a:p>
          <a:p>
            <a:r>
              <a:rPr lang="es-AR" dirty="0" smtClean="0"/>
              <a:t>Precondiciones:</a:t>
            </a:r>
          </a:p>
          <a:p>
            <a:pPr lvl="1"/>
            <a:r>
              <a:rPr lang="es-AR" dirty="0" smtClean="0"/>
              <a:t>Recursos, pila del producto, conocimiento del negocio</a:t>
            </a:r>
          </a:p>
          <a:p>
            <a:r>
              <a:rPr lang="es-AR" dirty="0" smtClean="0"/>
              <a:t>Entradas: </a:t>
            </a:r>
          </a:p>
          <a:p>
            <a:pPr lvl="1"/>
            <a:r>
              <a:rPr lang="es-AR" dirty="0" smtClean="0"/>
              <a:t>pila del producto, incrementos, rendimiento del equipo.</a:t>
            </a:r>
          </a:p>
          <a:p>
            <a:r>
              <a:rPr lang="es-AR" dirty="0" smtClean="0"/>
              <a:t>Resultados</a:t>
            </a:r>
          </a:p>
          <a:p>
            <a:pPr lvl="1"/>
            <a:r>
              <a:rPr lang="es-AR" dirty="0" smtClean="0"/>
              <a:t>Pila del sprint, duración y objetivo</a:t>
            </a:r>
            <a:endParaRPr lang="es-AR" dirty="0"/>
          </a:p>
        </p:txBody>
      </p:sp>
      <p:pic>
        <p:nvPicPr>
          <p:cNvPr id="4" name="Imagen 3" descr="Recorte de pantal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014" y="1288091"/>
            <a:ext cx="5482840" cy="282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19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AR" dirty="0" smtClean="0"/>
              <a:t>Funciones del </a:t>
            </a:r>
            <a:r>
              <a:rPr lang="es-AR" dirty="0" err="1" smtClean="0"/>
              <a:t>Scrum</a:t>
            </a:r>
            <a:r>
              <a:rPr lang="es-AR" dirty="0" smtClean="0"/>
              <a:t> Master:</a:t>
            </a:r>
          </a:p>
          <a:p>
            <a:pPr lvl="1"/>
            <a:r>
              <a:rPr lang="es-AR" dirty="0" smtClean="0"/>
              <a:t>Realizar reunión</a:t>
            </a:r>
          </a:p>
          <a:p>
            <a:pPr lvl="1"/>
            <a:r>
              <a:rPr lang="es-AR" dirty="0" smtClean="0"/>
              <a:t>Pila del producto</a:t>
            </a:r>
          </a:p>
          <a:p>
            <a:pPr lvl="1"/>
            <a:r>
              <a:rPr lang="es-AR" dirty="0" smtClean="0"/>
              <a:t>Diálogo</a:t>
            </a:r>
          </a:p>
          <a:p>
            <a:pPr lvl="1"/>
            <a:r>
              <a:rPr lang="es-AR" dirty="0" smtClean="0"/>
              <a:t>Acuerdo del incremento</a:t>
            </a:r>
          </a:p>
          <a:p>
            <a:pPr lvl="1"/>
            <a:r>
              <a:rPr lang="es-AR" dirty="0" smtClean="0"/>
              <a:t>Descomposición del trabajo</a:t>
            </a:r>
          </a:p>
          <a:p>
            <a:pPr lvl="1"/>
            <a:r>
              <a:rPr lang="es-AR" dirty="0" smtClean="0"/>
              <a:t>Determinación de:</a:t>
            </a:r>
          </a:p>
          <a:p>
            <a:pPr lvl="2"/>
            <a:r>
              <a:rPr lang="es-AR" dirty="0" smtClean="0"/>
              <a:t>Implementación de la pila</a:t>
            </a:r>
          </a:p>
          <a:p>
            <a:pPr lvl="2"/>
            <a:r>
              <a:rPr lang="es-AR" dirty="0" smtClean="0"/>
              <a:t>Objetivo</a:t>
            </a:r>
          </a:p>
          <a:p>
            <a:pPr lvl="2"/>
            <a:r>
              <a:rPr lang="es-AR" dirty="0" smtClean="0"/>
              <a:t>Pila del sprint</a:t>
            </a:r>
          </a:p>
          <a:p>
            <a:pPr lvl="2"/>
            <a:r>
              <a:rPr lang="es-AR" dirty="0" smtClean="0"/>
              <a:t>Duración sprint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41919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 smtClean="0"/>
              <a:t>Scrum</a:t>
            </a:r>
            <a:r>
              <a:rPr lang="es-AR" dirty="0" smtClean="0"/>
              <a:t> diario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Reunión diaria de comunicación.</a:t>
            </a:r>
          </a:p>
          <a:p>
            <a:r>
              <a:rPr lang="es-AR" dirty="0" smtClean="0"/>
              <a:t>Muy breve</a:t>
            </a:r>
          </a:p>
          <a:p>
            <a:r>
              <a:rPr lang="es-AR" dirty="0" smtClean="0"/>
              <a:t>Sincroniza el trabajo del día</a:t>
            </a:r>
          </a:p>
          <a:p>
            <a:r>
              <a:rPr lang="es-AR" dirty="0" smtClean="0"/>
              <a:t>Entradas:</a:t>
            </a:r>
          </a:p>
          <a:p>
            <a:pPr lvl="1"/>
            <a:r>
              <a:rPr lang="es-AR" dirty="0" smtClean="0"/>
              <a:t>Pila del sprint, gráfico </a:t>
            </a:r>
            <a:r>
              <a:rPr lang="es-AR" dirty="0" err="1" smtClean="0"/>
              <a:t>burn-down</a:t>
            </a:r>
            <a:r>
              <a:rPr lang="es-AR" dirty="0" smtClean="0"/>
              <a:t>, </a:t>
            </a:r>
            <a:r>
              <a:rPr lang="es-AR" dirty="0" err="1" smtClean="0"/>
              <a:t>info</a:t>
            </a:r>
            <a:r>
              <a:rPr lang="es-AR" dirty="0" smtClean="0"/>
              <a:t> de avance de cada miembro.</a:t>
            </a:r>
          </a:p>
          <a:p>
            <a:r>
              <a:rPr lang="es-AR" dirty="0" smtClean="0"/>
              <a:t>Resultados:</a:t>
            </a:r>
          </a:p>
          <a:p>
            <a:pPr lvl="1"/>
            <a:r>
              <a:rPr lang="es-AR" dirty="0" smtClean="0"/>
              <a:t>Pila del sprint, gráfico </a:t>
            </a:r>
            <a:r>
              <a:rPr lang="es-AR" dirty="0" err="1" smtClean="0"/>
              <a:t>burn-down</a:t>
            </a:r>
            <a:r>
              <a:rPr lang="es-AR" dirty="0" smtClean="0"/>
              <a:t> actualizado.</a:t>
            </a:r>
          </a:p>
          <a:p>
            <a:pPr lvl="1"/>
            <a:r>
              <a:rPr lang="es-AR" dirty="0" smtClean="0"/>
              <a:t>Necesidades e impedimentos.</a:t>
            </a:r>
          </a:p>
          <a:p>
            <a:r>
              <a:rPr lang="es-AR" dirty="0" smtClean="0"/>
              <a:t>¿qué hizo?, ¿qué va a hacer?, impedimentos.</a:t>
            </a:r>
          </a:p>
          <a:p>
            <a:r>
              <a:rPr lang="es-AR" dirty="0" err="1" smtClean="0"/>
              <a:t>Scrum</a:t>
            </a:r>
            <a:r>
              <a:rPr lang="es-AR" dirty="0" smtClean="0"/>
              <a:t> Master resuelve impedimentos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21256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Revisión del sprint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Al final del sprint.</a:t>
            </a:r>
          </a:p>
          <a:p>
            <a:r>
              <a:rPr lang="es-AR" dirty="0" smtClean="0"/>
              <a:t>&lt;4hs para sprint largos.</a:t>
            </a:r>
          </a:p>
          <a:p>
            <a:r>
              <a:rPr lang="es-AR" dirty="0" smtClean="0"/>
              <a:t>Objetivos:</a:t>
            </a:r>
          </a:p>
          <a:p>
            <a:pPr lvl="1"/>
            <a:r>
              <a:rPr lang="es-AR" dirty="0" smtClean="0"/>
              <a:t>Trayectoria de la visión.</a:t>
            </a:r>
          </a:p>
          <a:p>
            <a:pPr lvl="1"/>
            <a:r>
              <a:rPr lang="es-AR" dirty="0" smtClean="0"/>
              <a:t>Funcionalidades hechas.</a:t>
            </a:r>
          </a:p>
          <a:p>
            <a:r>
              <a:rPr lang="es-AR" dirty="0" smtClean="0"/>
              <a:t>Precondiciones:</a:t>
            </a:r>
          </a:p>
          <a:p>
            <a:pPr lvl="1"/>
            <a:r>
              <a:rPr lang="es-AR" dirty="0" smtClean="0"/>
              <a:t>Sprint terminado</a:t>
            </a:r>
          </a:p>
          <a:p>
            <a:pPr lvl="1"/>
            <a:r>
              <a:rPr lang="es-AR" dirty="0" smtClean="0"/>
              <a:t>Asiste todo el equipo, </a:t>
            </a:r>
            <a:r>
              <a:rPr lang="es-AR" dirty="0" err="1" smtClean="0"/>
              <a:t>Scrum</a:t>
            </a:r>
            <a:r>
              <a:rPr lang="es-AR" dirty="0" smtClean="0"/>
              <a:t> Master y propietario del producto.</a:t>
            </a:r>
          </a:p>
          <a:p>
            <a:r>
              <a:rPr lang="es-AR" dirty="0" smtClean="0"/>
              <a:t>Es informativa, no se toman decisiones ni se hacen críticas.</a:t>
            </a:r>
          </a:p>
          <a:p>
            <a:endParaRPr lang="es-AR" dirty="0" smtClean="0"/>
          </a:p>
          <a:p>
            <a:pPr lvl="1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18908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Retrospectiva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Luego del incremento y antes de la planificación.</a:t>
            </a:r>
          </a:p>
          <a:p>
            <a:r>
              <a:rPr lang="es-AR" dirty="0" smtClean="0"/>
              <a:t>Identificar fortalezas y debilidades.</a:t>
            </a:r>
          </a:p>
          <a:p>
            <a:r>
              <a:rPr lang="es-AR" dirty="0" smtClean="0"/>
              <a:t>Como lo estamos haciendo.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33154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Roles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Comprometidos</a:t>
            </a:r>
          </a:p>
          <a:p>
            <a:pPr lvl="1"/>
            <a:r>
              <a:rPr lang="es-AR" dirty="0" smtClean="0"/>
              <a:t>Propietario del producto</a:t>
            </a:r>
          </a:p>
          <a:p>
            <a:pPr lvl="1"/>
            <a:r>
              <a:rPr lang="es-AR" dirty="0" smtClean="0"/>
              <a:t>Equipo de desarrollo</a:t>
            </a:r>
          </a:p>
          <a:p>
            <a:r>
              <a:rPr lang="es-AR" dirty="0" smtClean="0"/>
              <a:t>Implicados</a:t>
            </a:r>
          </a:p>
          <a:p>
            <a:pPr lvl="1"/>
            <a:r>
              <a:rPr lang="es-AR" dirty="0" smtClean="0"/>
              <a:t>Marketing</a:t>
            </a:r>
          </a:p>
          <a:p>
            <a:pPr lvl="1"/>
            <a:r>
              <a:rPr lang="es-AR" dirty="0" smtClean="0"/>
              <a:t>Ventas</a:t>
            </a:r>
          </a:p>
          <a:p>
            <a:pPr lvl="1"/>
            <a:r>
              <a:rPr lang="es-AR" dirty="0" smtClean="0"/>
              <a:t>Dirección, etc.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63073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Propietario del producto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Valor del producto.</a:t>
            </a:r>
          </a:p>
          <a:p>
            <a:r>
              <a:rPr lang="es-AR" dirty="0" smtClean="0"/>
              <a:t>Única persona.</a:t>
            </a:r>
          </a:p>
          <a:p>
            <a:r>
              <a:rPr lang="es-AR" dirty="0" smtClean="0"/>
              <a:t>Debe:</a:t>
            </a:r>
          </a:p>
          <a:p>
            <a:pPr lvl="1"/>
            <a:r>
              <a:rPr lang="es-AR" dirty="0" smtClean="0"/>
              <a:t>Conocer el entorno del negocio</a:t>
            </a:r>
          </a:p>
          <a:p>
            <a:pPr lvl="1"/>
            <a:r>
              <a:rPr lang="es-AR" dirty="0" smtClean="0"/>
              <a:t>Visión del producto</a:t>
            </a:r>
          </a:p>
          <a:p>
            <a:pPr lvl="1"/>
            <a:r>
              <a:rPr lang="es-AR" dirty="0" smtClean="0"/>
              <a:t>Atribuciones y conocimientos del plan</a:t>
            </a:r>
          </a:p>
          <a:p>
            <a:pPr lvl="1"/>
            <a:r>
              <a:rPr lang="es-AR" dirty="0" smtClean="0"/>
              <a:t>Retroinformación del entorno del negocio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63343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Equipo de desarrollo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Realizan el incremento.</a:t>
            </a:r>
          </a:p>
          <a:p>
            <a:r>
              <a:rPr lang="es-AR" dirty="0" smtClean="0"/>
              <a:t>Entre 3 y 8, no se incluye al propietario ni al </a:t>
            </a:r>
            <a:r>
              <a:rPr lang="es-AR" dirty="0" err="1" smtClean="0"/>
              <a:t>Scrum</a:t>
            </a:r>
            <a:r>
              <a:rPr lang="es-AR" dirty="0" smtClean="0"/>
              <a:t> Master.</a:t>
            </a:r>
          </a:p>
          <a:p>
            <a:r>
              <a:rPr lang="es-AR" dirty="0" smtClean="0"/>
              <a:t>Multifuncional.</a:t>
            </a:r>
          </a:p>
          <a:p>
            <a:r>
              <a:rPr lang="es-AR" dirty="0" smtClean="0"/>
              <a:t>Tiene espíritu de colaboración.</a:t>
            </a:r>
          </a:p>
          <a:p>
            <a:r>
              <a:rPr lang="es-AR" dirty="0" err="1" smtClean="0"/>
              <a:t>Autoorganizada</a:t>
            </a:r>
            <a:endParaRPr lang="es-AR" dirty="0" smtClean="0"/>
          </a:p>
          <a:p>
            <a:r>
              <a:rPr lang="es-AR" dirty="0" smtClean="0"/>
              <a:t>Todos participan en las decisiones</a:t>
            </a:r>
          </a:p>
          <a:p>
            <a:r>
              <a:rPr lang="es-AR" dirty="0" smtClean="0"/>
              <a:t>Todos conocen </a:t>
            </a:r>
            <a:r>
              <a:rPr lang="es-AR" dirty="0" err="1" smtClean="0"/>
              <a:t>Scrum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38849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 smtClean="0"/>
              <a:t>Scrum</a:t>
            </a:r>
            <a:r>
              <a:rPr lang="es-AR" dirty="0" smtClean="0"/>
              <a:t> Master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Responsable del cumplimiento de las reglas.</a:t>
            </a:r>
          </a:p>
          <a:p>
            <a:r>
              <a:rPr lang="es-AR" dirty="0" smtClean="0"/>
              <a:t>Asesora al propietario del producto y al equipo.</a:t>
            </a:r>
          </a:p>
          <a:p>
            <a:r>
              <a:rPr lang="es-AR" dirty="0" smtClean="0"/>
              <a:t>Moderación de las reuniones.</a:t>
            </a:r>
          </a:p>
          <a:p>
            <a:r>
              <a:rPr lang="es-AR" dirty="0" smtClean="0"/>
              <a:t>Mejora de las prácticas de </a:t>
            </a:r>
            <a:r>
              <a:rPr lang="es-AR" dirty="0" err="1" smtClean="0"/>
              <a:t>Scrum</a:t>
            </a:r>
            <a:r>
              <a:rPr lang="es-AR" dirty="0" smtClean="0"/>
              <a:t>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91190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Herramientas – Gráfico </a:t>
            </a:r>
            <a:r>
              <a:rPr lang="es-AR" dirty="0" err="1" smtClean="0"/>
              <a:t>Burn</a:t>
            </a:r>
            <a:r>
              <a:rPr lang="es-AR" dirty="0" smtClean="0"/>
              <a:t>-Up</a:t>
            </a:r>
            <a:endParaRPr lang="es-AR" dirty="0"/>
          </a:p>
        </p:txBody>
      </p:sp>
      <p:pic>
        <p:nvPicPr>
          <p:cNvPr id="4" name="Marcador de contenido 3" descr="Recorte de pantalla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82" y="1152983"/>
            <a:ext cx="8873952" cy="5352320"/>
          </a:xfrm>
        </p:spPr>
      </p:pic>
    </p:spTree>
    <p:extLst>
      <p:ext uri="{BB962C8B-B14F-4D97-AF65-F5344CB8AC3E}">
        <p14:creationId xmlns:p14="http://schemas.microsoft.com/office/powerpoint/2010/main" val="4215448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Para el propietario del producto</a:t>
            </a:r>
          </a:p>
          <a:p>
            <a:r>
              <a:rPr lang="es-AR" dirty="0" smtClean="0"/>
              <a:t>Versiones previstas</a:t>
            </a:r>
          </a:p>
          <a:p>
            <a:r>
              <a:rPr lang="es-AR" dirty="0" smtClean="0"/>
              <a:t>Funcionalidad de cada una.</a:t>
            </a:r>
          </a:p>
          <a:p>
            <a:r>
              <a:rPr lang="es-AR" dirty="0" smtClean="0"/>
              <a:t>Avance real</a:t>
            </a:r>
            <a:endParaRPr lang="es-AR" dirty="0"/>
          </a:p>
        </p:txBody>
      </p:sp>
      <p:pic>
        <p:nvPicPr>
          <p:cNvPr id="4" name="Imagen 3" descr="Recorte de pantal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246" y="630112"/>
            <a:ext cx="5215654" cy="2845611"/>
          </a:xfrm>
          <a:prstGeom prst="rect">
            <a:avLst/>
          </a:prstGeom>
        </p:spPr>
      </p:pic>
      <p:pic>
        <p:nvPicPr>
          <p:cNvPr id="5" name="Imagen 4" descr="Recorte de pantal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545" y="3653117"/>
            <a:ext cx="5245355" cy="29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227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Herramientas – Gráfico </a:t>
            </a:r>
            <a:r>
              <a:rPr lang="es-AR" dirty="0" err="1" smtClean="0"/>
              <a:t>Burn</a:t>
            </a:r>
            <a:r>
              <a:rPr lang="es-AR" dirty="0" smtClean="0"/>
              <a:t> </a:t>
            </a:r>
            <a:r>
              <a:rPr lang="es-AR" dirty="0" err="1" smtClean="0"/>
              <a:t>down</a:t>
            </a:r>
            <a:endParaRPr lang="es-AR" dirty="0"/>
          </a:p>
        </p:txBody>
      </p:sp>
      <p:pic>
        <p:nvPicPr>
          <p:cNvPr id="4" name="Marcador de contenido 3" descr="Recorte de pantalla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6" y="1371601"/>
            <a:ext cx="6655819" cy="3722913"/>
          </a:xfrm>
        </p:spPr>
      </p:pic>
      <p:pic>
        <p:nvPicPr>
          <p:cNvPr id="5" name="Imagen 4" descr="Recorte de pantal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334" y="3844728"/>
            <a:ext cx="5616923" cy="286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1512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Herramientas - Pizarra de trabajo</a:t>
            </a:r>
            <a:endParaRPr lang="es-AR" dirty="0"/>
          </a:p>
        </p:txBody>
      </p:sp>
      <p:pic>
        <p:nvPicPr>
          <p:cNvPr id="4" name="Marcador de contenido 3" descr="Recorte de pantalla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48" y="1152983"/>
            <a:ext cx="8662621" cy="4875891"/>
          </a:xfrm>
        </p:spPr>
      </p:pic>
      <p:pic>
        <p:nvPicPr>
          <p:cNvPr id="5" name="Imagen 4" descr="Recorte de pantal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4812" y="1265213"/>
            <a:ext cx="2771769" cy="1572979"/>
          </a:xfrm>
          <a:prstGeom prst="rect">
            <a:avLst/>
          </a:prstGeom>
        </p:spPr>
      </p:pic>
      <p:pic>
        <p:nvPicPr>
          <p:cNvPr id="6" name="Imagen 5" descr="Recorte de pantalla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4812" y="3008019"/>
            <a:ext cx="2771769" cy="1497313"/>
          </a:xfrm>
          <a:prstGeom prst="rect">
            <a:avLst/>
          </a:prstGeom>
        </p:spPr>
      </p:pic>
      <p:pic>
        <p:nvPicPr>
          <p:cNvPr id="7" name="Imagen 6" descr="Recorte de pantalla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1147" y="4639522"/>
            <a:ext cx="1659097" cy="195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835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Estimación de póquer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Estimar x juicio experto.</a:t>
            </a:r>
          </a:p>
          <a:p>
            <a:r>
              <a:rPr lang="es-AR" dirty="0" smtClean="0"/>
              <a:t>8 cartas para estimar los días.</a:t>
            </a:r>
          </a:p>
          <a:p>
            <a:r>
              <a:rPr lang="es-AR" dirty="0" smtClean="0"/>
              <a:t>Para tareas entre ½ día y 10 días.</a:t>
            </a:r>
          </a:p>
          <a:p>
            <a:r>
              <a:rPr lang="es-AR" dirty="0" smtClean="0"/>
              <a:t>Recomendaciones:</a:t>
            </a:r>
          </a:p>
          <a:p>
            <a:pPr lvl="1"/>
            <a:r>
              <a:rPr lang="es-AR" dirty="0" smtClean="0"/>
              <a:t>No definir tareas grandes.</a:t>
            </a:r>
          </a:p>
          <a:p>
            <a:pPr lvl="1"/>
            <a:r>
              <a:rPr lang="es-AR" dirty="0" smtClean="0"/>
              <a:t>No definir tareas de menos de ½ día.</a:t>
            </a:r>
          </a:p>
          <a:p>
            <a:pPr lvl="1"/>
            <a:r>
              <a:rPr lang="es-AR" dirty="0" smtClean="0"/>
              <a:t>Utilizar la misma unidad de medida.</a:t>
            </a:r>
          </a:p>
          <a:p>
            <a:r>
              <a:rPr lang="es-AR" dirty="0" err="1" smtClean="0"/>
              <a:t>Ej</a:t>
            </a:r>
            <a:r>
              <a:rPr lang="es-AR" dirty="0" smtClean="0"/>
              <a:t> para estimar 5 días máximo:</a:t>
            </a:r>
          </a:p>
          <a:p>
            <a:endParaRPr lang="es-AR" dirty="0"/>
          </a:p>
        </p:txBody>
      </p:sp>
      <p:pic>
        <p:nvPicPr>
          <p:cNvPr id="4" name="Imagen 3" descr="Recorte de pantal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709" y="1419597"/>
            <a:ext cx="4744165" cy="3298121"/>
          </a:xfrm>
          <a:prstGeom prst="rect">
            <a:avLst/>
          </a:prstGeom>
        </p:spPr>
      </p:pic>
      <p:pic>
        <p:nvPicPr>
          <p:cNvPr id="5" name="Imagen 4" descr="Recorte de pantal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822" y="5042544"/>
            <a:ext cx="1912950" cy="176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31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Medición y estimación ágil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45579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159</TotalTime>
  <Words>762</Words>
  <Application>Microsoft Office PowerPoint</Application>
  <PresentationFormat>Panorámica</PresentationFormat>
  <Paragraphs>166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7" baseType="lpstr">
      <vt:lpstr>Arial</vt:lpstr>
      <vt:lpstr>Century Gothic</vt:lpstr>
      <vt:lpstr>Segoe Print</vt:lpstr>
      <vt:lpstr>Verdana</vt:lpstr>
      <vt:lpstr>Wingdings 3</vt:lpstr>
      <vt:lpstr>Ion</vt:lpstr>
      <vt:lpstr>Scrum</vt:lpstr>
      <vt:lpstr>Presentación de PowerPoint</vt:lpstr>
      <vt:lpstr>Artefactos</vt:lpstr>
      <vt:lpstr>Pila del producto</vt:lpstr>
      <vt:lpstr>Presentación de PowerPoint</vt:lpstr>
      <vt:lpstr>Historias de usuarios</vt:lpstr>
      <vt:lpstr>Presentación de PowerPoint</vt:lpstr>
      <vt:lpstr>Ejemplos</vt:lpstr>
      <vt:lpstr>Presentación de PowerPoint</vt:lpstr>
      <vt:lpstr>Presentación de PowerPoint</vt:lpstr>
      <vt:lpstr>Pila del sprint</vt:lpstr>
      <vt:lpstr>Presentación de PowerPoint</vt:lpstr>
      <vt:lpstr>Presentación de PowerPoint</vt:lpstr>
      <vt:lpstr>Incremento</vt:lpstr>
      <vt:lpstr>Eventos</vt:lpstr>
      <vt:lpstr>Presentación de PowerPoint</vt:lpstr>
      <vt:lpstr>Planificación del sprint</vt:lpstr>
      <vt:lpstr>Presentación de PowerPoint</vt:lpstr>
      <vt:lpstr>Scrum diario</vt:lpstr>
      <vt:lpstr>Revisión del sprint</vt:lpstr>
      <vt:lpstr>Retrospectiva</vt:lpstr>
      <vt:lpstr>Roles</vt:lpstr>
      <vt:lpstr>Propietario del producto</vt:lpstr>
      <vt:lpstr>Equipo de desarrollo</vt:lpstr>
      <vt:lpstr>Scrum Master</vt:lpstr>
      <vt:lpstr>Herramientas – Gráfico Burn-Up</vt:lpstr>
      <vt:lpstr>Presentación de PowerPoint</vt:lpstr>
      <vt:lpstr>Herramientas – Gráfico Burn down</vt:lpstr>
      <vt:lpstr>Herramientas - Pizarra de trabajo</vt:lpstr>
      <vt:lpstr>Estimación de póquer</vt:lpstr>
      <vt:lpstr>Medición y estimación ágil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</dc:title>
  <dc:creator>Usuario</dc:creator>
  <cp:lastModifiedBy>Usuario</cp:lastModifiedBy>
  <cp:revision>17</cp:revision>
  <dcterms:created xsi:type="dcterms:W3CDTF">2017-05-16T21:53:56Z</dcterms:created>
  <dcterms:modified xsi:type="dcterms:W3CDTF">2018-09-12T23:25:43Z</dcterms:modified>
</cp:coreProperties>
</file>