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>
  <p:sldMasterIdLst>
    <p:sldMasterId id="2147483663" r:id="rId1"/>
  </p:sldMasterIdLst>
  <p:notesMasterIdLst>
    <p:notesMasterId r:id="rId48"/>
  </p:notesMasterIdLst>
  <p:handoutMasterIdLst>
    <p:handoutMasterId r:id="rId49"/>
  </p:handoutMasterIdLst>
  <p:sldIdLst>
    <p:sldId id="256" r:id="rId2"/>
    <p:sldId id="297" r:id="rId3"/>
    <p:sldId id="298" r:id="rId4"/>
    <p:sldId id="299" r:id="rId5"/>
    <p:sldId id="300" r:id="rId6"/>
    <p:sldId id="301" r:id="rId7"/>
    <p:sldId id="302" r:id="rId8"/>
    <p:sldId id="303" r:id="rId9"/>
    <p:sldId id="304" r:id="rId10"/>
    <p:sldId id="305" r:id="rId11"/>
    <p:sldId id="332" r:id="rId12"/>
    <p:sldId id="306" r:id="rId13"/>
    <p:sldId id="333" r:id="rId14"/>
    <p:sldId id="307" r:id="rId15"/>
    <p:sldId id="308" r:id="rId16"/>
    <p:sldId id="334" r:id="rId17"/>
    <p:sldId id="335" r:id="rId18"/>
    <p:sldId id="309" r:id="rId19"/>
    <p:sldId id="310" r:id="rId20"/>
    <p:sldId id="311" r:id="rId21"/>
    <p:sldId id="336" r:id="rId22"/>
    <p:sldId id="337" r:id="rId23"/>
    <p:sldId id="312" r:id="rId24"/>
    <p:sldId id="313" r:id="rId25"/>
    <p:sldId id="314" r:id="rId26"/>
    <p:sldId id="315" r:id="rId27"/>
    <p:sldId id="316" r:id="rId28"/>
    <p:sldId id="317" r:id="rId29"/>
    <p:sldId id="338" r:id="rId30"/>
    <p:sldId id="339" r:id="rId31"/>
    <p:sldId id="318" r:id="rId32"/>
    <p:sldId id="319" r:id="rId33"/>
    <p:sldId id="320" r:id="rId34"/>
    <p:sldId id="321" r:id="rId35"/>
    <p:sldId id="340" r:id="rId36"/>
    <p:sldId id="341" r:id="rId37"/>
    <p:sldId id="322" r:id="rId38"/>
    <p:sldId id="323" r:id="rId39"/>
    <p:sldId id="324" r:id="rId40"/>
    <p:sldId id="327" r:id="rId41"/>
    <p:sldId id="325" r:id="rId42"/>
    <p:sldId id="326" r:id="rId43"/>
    <p:sldId id="328" r:id="rId44"/>
    <p:sldId id="329" r:id="rId45"/>
    <p:sldId id="330" r:id="rId46"/>
    <p:sldId id="331" r:id="rId47"/>
  </p:sldIdLst>
  <p:sldSz cx="9144000" cy="6858000" type="screen4x3"/>
  <p:notesSz cx="6888163" cy="9621838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1500" u="sng"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1500" u="sng"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1500" u="sng"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1500" u="sng"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1500" u="sng"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5pPr>
    <a:lvl6pPr marL="2286000" algn="l" defTabSz="914400" rtl="0" eaLnBrk="1" latinLnBrk="0" hangingPunct="1">
      <a:defRPr sz="1500" u="sng"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6pPr>
    <a:lvl7pPr marL="2743200" algn="l" defTabSz="914400" rtl="0" eaLnBrk="1" latinLnBrk="0" hangingPunct="1">
      <a:defRPr sz="1500" u="sng"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7pPr>
    <a:lvl8pPr marL="3200400" algn="l" defTabSz="914400" rtl="0" eaLnBrk="1" latinLnBrk="0" hangingPunct="1">
      <a:defRPr sz="1500" u="sng"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8pPr>
    <a:lvl9pPr marL="3657600" algn="l" defTabSz="914400" rtl="0" eaLnBrk="1" latinLnBrk="0" hangingPunct="1">
      <a:defRPr sz="1500" u="sng"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30">
          <p15:clr>
            <a:srgbClr val="A4A3A4"/>
          </p15:clr>
        </p15:guide>
        <p15:guide id="2" pos="2169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5910"/>
    </p:cViewPr>
  </p:sorterViewPr>
  <p:notesViewPr>
    <p:cSldViewPr>
      <p:cViewPr varScale="1">
        <p:scale>
          <a:sx n="40" d="100"/>
          <a:sy n="40" d="100"/>
        </p:scale>
        <p:origin x="-1542" y="-96"/>
      </p:cViewPr>
      <p:guideLst>
        <p:guide orient="horz" pos="3030"/>
        <p:guide pos="2169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>
            <a:extLst>
              <a:ext uri="{FF2B5EF4-FFF2-40B4-BE49-F238E27FC236}">
                <a16:creationId xmlns:a16="http://schemas.microsoft.com/office/drawing/2014/main" id="{37BE228F-B748-38CF-1046-3A985861C5EE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84500" cy="4810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4339" tIns="47169" rIns="94339" bIns="47169" numCol="1" anchor="t" anchorCtr="0" compatLnSpc="1">
            <a:prstTxWarp prst="textNoShape">
              <a:avLst/>
            </a:prstTxWarp>
          </a:bodyPr>
          <a:lstStyle>
            <a:lvl1pPr defTabSz="942975" eaLnBrk="0" hangingPunct="0">
              <a:defRPr sz="1200" u="none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s-ES_tradnl" altLang="es-AR"/>
          </a:p>
        </p:txBody>
      </p:sp>
      <p:sp>
        <p:nvSpPr>
          <p:cNvPr id="37891" name="Rectangle 3">
            <a:extLst>
              <a:ext uri="{FF2B5EF4-FFF2-40B4-BE49-F238E27FC236}">
                <a16:creationId xmlns:a16="http://schemas.microsoft.com/office/drawing/2014/main" id="{FA1E4F86-10BB-9DBE-36D1-BEB3DDE20EE0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03663" y="0"/>
            <a:ext cx="2984500" cy="4810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4339" tIns="47169" rIns="94339" bIns="47169" numCol="1" anchor="t" anchorCtr="0" compatLnSpc="1">
            <a:prstTxWarp prst="textNoShape">
              <a:avLst/>
            </a:prstTxWarp>
          </a:bodyPr>
          <a:lstStyle>
            <a:lvl1pPr algn="r" defTabSz="942975" eaLnBrk="0" hangingPunct="0">
              <a:defRPr sz="1200" u="none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s-ES_tradnl" altLang="es-AR"/>
          </a:p>
        </p:txBody>
      </p:sp>
      <p:sp>
        <p:nvSpPr>
          <p:cNvPr id="37892" name="Rectangle 4">
            <a:extLst>
              <a:ext uri="{FF2B5EF4-FFF2-40B4-BE49-F238E27FC236}">
                <a16:creationId xmlns:a16="http://schemas.microsoft.com/office/drawing/2014/main" id="{73EC6B6C-3F1B-FAF8-70E0-487D405BDAB2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140825"/>
            <a:ext cx="2984500" cy="4810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4339" tIns="47169" rIns="94339" bIns="47169" numCol="1" anchor="b" anchorCtr="0" compatLnSpc="1">
            <a:prstTxWarp prst="textNoShape">
              <a:avLst/>
            </a:prstTxWarp>
          </a:bodyPr>
          <a:lstStyle>
            <a:lvl1pPr defTabSz="942975" eaLnBrk="0" hangingPunct="0">
              <a:defRPr sz="1200" u="none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s-ES_tradnl" altLang="es-AR"/>
          </a:p>
        </p:txBody>
      </p:sp>
      <p:sp>
        <p:nvSpPr>
          <p:cNvPr id="37893" name="Rectangle 5">
            <a:extLst>
              <a:ext uri="{FF2B5EF4-FFF2-40B4-BE49-F238E27FC236}">
                <a16:creationId xmlns:a16="http://schemas.microsoft.com/office/drawing/2014/main" id="{5BF11CF5-8390-6E17-D253-985D556C360D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03663" y="9140825"/>
            <a:ext cx="2984500" cy="4810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4339" tIns="47169" rIns="94339" bIns="47169" numCol="1" anchor="b" anchorCtr="0" compatLnSpc="1">
            <a:prstTxWarp prst="textNoShape">
              <a:avLst/>
            </a:prstTxWarp>
          </a:bodyPr>
          <a:lstStyle>
            <a:lvl1pPr algn="r" defTabSz="942975">
              <a:defRPr sz="1200" u="none">
                <a:latin typeface="Times New Roman" panose="02020603050405020304" pitchFamily="18" charset="0"/>
              </a:defRPr>
            </a:lvl1pPr>
          </a:lstStyle>
          <a:p>
            <a:fld id="{A201020D-6D81-4006-87B7-4EB35E8B2F01}" type="slidenum">
              <a:rPr lang="es-ES_tradnl" altLang="es-AR"/>
              <a:pPr/>
              <a:t>‹Nº›</a:t>
            </a:fld>
            <a:endParaRPr lang="es-ES_tradnl" altLang="es-A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FB23A3E6-9A68-FB39-1343-907120E6FE92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84500" cy="4810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4339" tIns="47169" rIns="94339" bIns="47169" numCol="1" anchor="t" anchorCtr="0" compatLnSpc="1">
            <a:prstTxWarp prst="textNoShape">
              <a:avLst/>
            </a:prstTxWarp>
          </a:bodyPr>
          <a:lstStyle>
            <a:lvl1pPr defTabSz="942975" eaLnBrk="0" hangingPunct="0">
              <a:defRPr sz="1200" u="none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s-ES_tradnl" altLang="es-AR"/>
          </a:p>
        </p:txBody>
      </p:sp>
      <p:sp>
        <p:nvSpPr>
          <p:cNvPr id="8195" name="Rectangle 3">
            <a:extLst>
              <a:ext uri="{FF2B5EF4-FFF2-40B4-BE49-F238E27FC236}">
                <a16:creationId xmlns:a16="http://schemas.microsoft.com/office/drawing/2014/main" id="{C982D46C-7CB1-5D7F-16B5-4A780C8E44A7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903663" y="0"/>
            <a:ext cx="2984500" cy="4810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4339" tIns="47169" rIns="94339" bIns="47169" numCol="1" anchor="t" anchorCtr="0" compatLnSpc="1">
            <a:prstTxWarp prst="textNoShape">
              <a:avLst/>
            </a:prstTxWarp>
          </a:bodyPr>
          <a:lstStyle>
            <a:lvl1pPr algn="r" defTabSz="942975" eaLnBrk="0" hangingPunct="0">
              <a:defRPr sz="1200" u="none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s-ES_tradnl" altLang="es-AR"/>
          </a:p>
        </p:txBody>
      </p:sp>
      <p:sp>
        <p:nvSpPr>
          <p:cNvPr id="5124" name="Rectangle 4">
            <a:extLst>
              <a:ext uri="{FF2B5EF4-FFF2-40B4-BE49-F238E27FC236}">
                <a16:creationId xmlns:a16="http://schemas.microsoft.com/office/drawing/2014/main" id="{424B51ED-4134-FC74-9DA3-FD5AF5D38C3F}"/>
              </a:ext>
            </a:extLst>
          </p:cNvPr>
          <p:cNvSpPr>
            <a:spLocks noChangeArrowheads="1" noTextEdit="1"/>
          </p:cNvSpPr>
          <p:nvPr>
            <p:ph type="sldImg" idx="2"/>
          </p:nvPr>
        </p:nvSpPr>
        <p:spPr bwMode="auto">
          <a:xfrm>
            <a:off x="1039813" y="722313"/>
            <a:ext cx="4808537" cy="36068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8197" name="Rectangle 5">
            <a:extLst>
              <a:ext uri="{FF2B5EF4-FFF2-40B4-BE49-F238E27FC236}">
                <a16:creationId xmlns:a16="http://schemas.microsoft.com/office/drawing/2014/main" id="{8E471FA2-0D70-3D9D-F121-7C17F63418F1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9163" y="4570413"/>
            <a:ext cx="5049837" cy="432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4339" tIns="47169" rIns="94339" bIns="4716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s-ES_tradnl" altLang="es-AR" noProof="0"/>
              <a:t>Haga clic para modificar el estilo de texto del patrón</a:t>
            </a:r>
          </a:p>
          <a:p>
            <a:pPr lvl="1"/>
            <a:r>
              <a:rPr lang="es-ES_tradnl" altLang="es-AR" noProof="0"/>
              <a:t>Segundo nivel</a:t>
            </a:r>
          </a:p>
          <a:p>
            <a:pPr lvl="2"/>
            <a:r>
              <a:rPr lang="es-ES_tradnl" altLang="es-AR" noProof="0"/>
              <a:t>Tercer nivel</a:t>
            </a:r>
          </a:p>
          <a:p>
            <a:pPr lvl="3"/>
            <a:r>
              <a:rPr lang="es-ES_tradnl" altLang="es-AR" noProof="0"/>
              <a:t>Cuarto nivel</a:t>
            </a:r>
          </a:p>
          <a:p>
            <a:pPr lvl="4"/>
            <a:r>
              <a:rPr lang="es-ES_tradnl" altLang="es-AR" noProof="0"/>
              <a:t>Quinto nivel</a:t>
            </a:r>
          </a:p>
        </p:txBody>
      </p:sp>
      <p:sp>
        <p:nvSpPr>
          <p:cNvPr id="8198" name="Rectangle 6">
            <a:extLst>
              <a:ext uri="{FF2B5EF4-FFF2-40B4-BE49-F238E27FC236}">
                <a16:creationId xmlns:a16="http://schemas.microsoft.com/office/drawing/2014/main" id="{4A121039-FBA3-13CB-F2EE-EC15E9B8A856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140825"/>
            <a:ext cx="2984500" cy="4810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4339" tIns="47169" rIns="94339" bIns="47169" numCol="1" anchor="b" anchorCtr="0" compatLnSpc="1">
            <a:prstTxWarp prst="textNoShape">
              <a:avLst/>
            </a:prstTxWarp>
          </a:bodyPr>
          <a:lstStyle>
            <a:lvl1pPr defTabSz="942975" eaLnBrk="0" hangingPunct="0">
              <a:defRPr sz="1200" u="none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s-ES_tradnl" altLang="es-AR"/>
          </a:p>
        </p:txBody>
      </p:sp>
      <p:sp>
        <p:nvSpPr>
          <p:cNvPr id="8199" name="Rectangle 7">
            <a:extLst>
              <a:ext uri="{FF2B5EF4-FFF2-40B4-BE49-F238E27FC236}">
                <a16:creationId xmlns:a16="http://schemas.microsoft.com/office/drawing/2014/main" id="{46629AB9-FC77-21BD-10AA-B1F2BECFFD3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03663" y="9140825"/>
            <a:ext cx="2984500" cy="4810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4339" tIns="47169" rIns="94339" bIns="47169" numCol="1" anchor="b" anchorCtr="0" compatLnSpc="1">
            <a:prstTxWarp prst="textNoShape">
              <a:avLst/>
            </a:prstTxWarp>
          </a:bodyPr>
          <a:lstStyle>
            <a:lvl1pPr algn="r" defTabSz="942975">
              <a:defRPr sz="1200" u="none">
                <a:latin typeface="Times New Roman" panose="02020603050405020304" pitchFamily="18" charset="0"/>
              </a:defRPr>
            </a:lvl1pPr>
          </a:lstStyle>
          <a:p>
            <a:fld id="{6E81D021-EC66-4201-88F6-6C8D059107FB}" type="slidenum">
              <a:rPr lang="es-ES_tradnl" altLang="es-AR"/>
              <a:pPr/>
              <a:t>‹Nº›</a:t>
            </a:fld>
            <a:endParaRPr lang="es-ES_tradnl" altLang="es-A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7">
            <a:extLst>
              <a:ext uri="{FF2B5EF4-FFF2-40B4-BE49-F238E27FC236}">
                <a16:creationId xmlns:a16="http://schemas.microsoft.com/office/drawing/2014/main" id="{DAD61214-01C2-C3CE-D770-1539DADB028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42975">
              <a:defRPr sz="1500" u="sng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 defTabSz="942975">
              <a:defRPr sz="1500" u="sng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 defTabSz="942975">
              <a:defRPr sz="1500" u="sng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 defTabSz="942975">
              <a:defRPr sz="1500" u="sng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 defTabSz="942975">
              <a:defRPr sz="1500" u="sng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defTabSz="942975" eaLnBrk="0" fontAlgn="base" hangingPunct="0">
              <a:spcBef>
                <a:spcPct val="0"/>
              </a:spcBef>
              <a:spcAft>
                <a:spcPct val="0"/>
              </a:spcAft>
              <a:defRPr sz="1500" u="sng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defTabSz="942975" eaLnBrk="0" fontAlgn="base" hangingPunct="0">
              <a:spcBef>
                <a:spcPct val="0"/>
              </a:spcBef>
              <a:spcAft>
                <a:spcPct val="0"/>
              </a:spcAft>
              <a:defRPr sz="1500" u="sng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defTabSz="942975" eaLnBrk="0" fontAlgn="base" hangingPunct="0">
              <a:spcBef>
                <a:spcPct val="0"/>
              </a:spcBef>
              <a:spcAft>
                <a:spcPct val="0"/>
              </a:spcAft>
              <a:defRPr sz="1500" u="sng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defTabSz="942975" eaLnBrk="0" fontAlgn="base" hangingPunct="0">
              <a:spcBef>
                <a:spcPct val="0"/>
              </a:spcBef>
              <a:spcAft>
                <a:spcPct val="0"/>
              </a:spcAft>
              <a:defRPr sz="1500" u="sng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DCF29A41-BAAB-4F91-8042-55B33DBDBB64}" type="slidenum">
              <a:rPr lang="es-ES_tradnl" altLang="es-AR" sz="1200" u="none">
                <a:latin typeface="Times New Roman" panose="02020603050405020304" pitchFamily="18" charset="0"/>
              </a:rPr>
              <a:pPr/>
              <a:t>2</a:t>
            </a:fld>
            <a:endParaRPr lang="es-ES_tradnl" altLang="es-AR" sz="1200" u="none">
              <a:latin typeface="Times New Roman" panose="02020603050405020304" pitchFamily="18" charset="0"/>
            </a:endParaRPr>
          </a:p>
        </p:txBody>
      </p:sp>
      <p:sp>
        <p:nvSpPr>
          <p:cNvPr id="9219" name="Rectangle 2">
            <a:extLst>
              <a:ext uri="{FF2B5EF4-FFF2-40B4-BE49-F238E27FC236}">
                <a16:creationId xmlns:a16="http://schemas.microsoft.com/office/drawing/2014/main" id="{B0C2DAD7-3FE9-5541-1CBB-1BD404767AA1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xfrm>
            <a:off x="1196975" y="839788"/>
            <a:ext cx="4494213" cy="3370262"/>
          </a:xfrm>
          <a:ln/>
        </p:spPr>
      </p:sp>
      <p:sp>
        <p:nvSpPr>
          <p:cNvPr id="9220" name="Rectangle 3">
            <a:extLst>
              <a:ext uri="{FF2B5EF4-FFF2-40B4-BE49-F238E27FC236}">
                <a16:creationId xmlns:a16="http://schemas.microsoft.com/office/drawing/2014/main" id="{DD4A8231-6978-D861-6234-DC655E9987C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30263" y="4573588"/>
            <a:ext cx="5227637" cy="4059237"/>
          </a:xfrm>
          <a:noFill/>
        </p:spPr>
        <p:txBody>
          <a:bodyPr/>
          <a:lstStyle/>
          <a:p>
            <a:pPr eaLnBrk="1" hangingPunct="1"/>
            <a:endParaRPr lang="es-AR" altLang="es-AR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2" y="1447801"/>
            <a:ext cx="662096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2" y="4777380"/>
            <a:ext cx="6620968" cy="861420"/>
          </a:xfrm>
        </p:spPr>
        <p:txBody>
          <a:bodyPr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editar el estilo de subtítulo del patrón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94EE42-E056-4CFF-F053-FAA84508CB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AR" altLang="es-A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EDB80E-5BB0-9316-5FCD-7EC4509080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s-AR" altLang="es-AR"/>
              <a:t>Versión 1.3 - 27/05/2014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11C1CD-375F-0628-1465-A43CA74D26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A58D9F4-3525-44FF-A15F-75CC09D44772}" type="slidenum">
              <a:rPr lang="es-AR" altLang="es-AR"/>
              <a:pPr/>
              <a:t>‹Nº›</a:t>
            </a:fld>
            <a:endParaRPr lang="es-AR" altLang="es-AR"/>
          </a:p>
        </p:txBody>
      </p:sp>
    </p:spTree>
    <p:extLst>
      <p:ext uri="{BB962C8B-B14F-4D97-AF65-F5344CB8AC3E}">
        <p14:creationId xmlns:p14="http://schemas.microsoft.com/office/powerpoint/2010/main" val="32813983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310713-AE2B-E856-B7D4-D28FA5BB50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AR" altLang="es-A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9D6200-33A8-A007-D807-72E52F2C99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s-AR" altLang="es-AR"/>
              <a:t>Versión 1.3 - 27/05/2014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DA3D29-9EAE-4289-D2BD-F7765E78C4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E43B4DD-EC29-4FB5-B417-FDDDAFABACE7}" type="slidenum">
              <a:rPr lang="es-AR" altLang="es-AR"/>
              <a:pPr/>
              <a:t>‹Nº›</a:t>
            </a:fld>
            <a:endParaRPr lang="es-AR" altLang="es-AR"/>
          </a:p>
        </p:txBody>
      </p:sp>
    </p:spTree>
    <p:extLst>
      <p:ext uri="{BB962C8B-B14F-4D97-AF65-F5344CB8AC3E}">
        <p14:creationId xmlns:p14="http://schemas.microsoft.com/office/powerpoint/2010/main" val="36954141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2861734"/>
            <a:ext cx="662096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3680D5-28B1-A0A9-B6DE-B487256F27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AR" altLang="es-A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4EE97A-8DDE-D403-4537-1F925F683B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s-AR" altLang="es-AR"/>
              <a:t>Versión 1.3 - 27/05/2014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C03576-0B98-F204-BF02-11FFCBE377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83ED5DE-51E7-48B1-845A-19BFB65F8947}" type="slidenum">
              <a:rPr lang="es-AR" altLang="es-AR"/>
              <a:pPr/>
              <a:t>‹Nº›</a:t>
            </a:fld>
            <a:endParaRPr lang="es-AR" altLang="es-AR"/>
          </a:p>
        </p:txBody>
      </p:sp>
    </p:spTree>
    <p:extLst>
      <p:ext uri="{BB962C8B-B14F-4D97-AF65-F5344CB8AC3E}">
        <p14:creationId xmlns:p14="http://schemas.microsoft.com/office/powerpoint/2010/main" val="22182671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7700" y="2060576"/>
            <a:ext cx="3298113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41975" y="2056093"/>
            <a:ext cx="3298115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647969ED-DA0C-20A5-4296-F562493734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AR" altLang="es-AR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7A2940AA-F8C4-E89D-3FA2-6B57AC9851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s-AR" altLang="es-AR"/>
              <a:t>Versión 1.3 - 27/05/2014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C7D9CACD-50AB-ABBC-F3BC-2196025030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515F584-5C8D-49A7-A3B2-E1241DC78B41}" type="slidenum">
              <a:rPr lang="es-AR" altLang="es-AR"/>
              <a:pPr/>
              <a:t>‹Nº›</a:t>
            </a:fld>
            <a:endParaRPr lang="es-AR" altLang="es-AR"/>
          </a:p>
        </p:txBody>
      </p:sp>
    </p:spTree>
    <p:extLst>
      <p:ext uri="{BB962C8B-B14F-4D97-AF65-F5344CB8AC3E}">
        <p14:creationId xmlns:p14="http://schemas.microsoft.com/office/powerpoint/2010/main" val="39489519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1905000"/>
            <a:ext cx="32981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7700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41976" y="1905000"/>
            <a:ext cx="3298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241976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10F5DC97-68E9-D404-EC17-4D6BBC2496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AR" altLang="es-AR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C229A493-C7D1-18AA-A819-1CC94EE112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s-AR" altLang="es-AR"/>
              <a:t>Versión 1.3 - 27/05/2014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CBA69C62-6383-3FC7-8F65-F4CE8419C4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D346BCF-83B6-48FC-B2B0-7EFC4D9301BD}" type="slidenum">
              <a:rPr lang="es-AR" altLang="es-AR"/>
              <a:pPr/>
              <a:t>‹Nº›</a:t>
            </a:fld>
            <a:endParaRPr lang="es-AR" altLang="es-AR"/>
          </a:p>
        </p:txBody>
      </p:sp>
    </p:spTree>
    <p:extLst>
      <p:ext uri="{BB962C8B-B14F-4D97-AF65-F5344CB8AC3E}">
        <p14:creationId xmlns:p14="http://schemas.microsoft.com/office/powerpoint/2010/main" val="26179923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4C7D1A4A-5FCF-0819-8264-484E45D354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AR" altLang="es-AR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1854FF46-BC10-0D02-93C0-365EB6E1C7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s-AR" altLang="es-AR"/>
              <a:t>Versión 1.3 - 27/05/2014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FF3C8ED3-4901-F180-82E8-E1FFB7D9C3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6DD5BA5-8E42-4824-9220-BD879BF1A105}" type="slidenum">
              <a:rPr lang="es-AR" altLang="es-AR"/>
              <a:pPr/>
              <a:t>‹Nº›</a:t>
            </a:fld>
            <a:endParaRPr lang="es-AR" altLang="es-AR"/>
          </a:p>
        </p:txBody>
      </p:sp>
    </p:spTree>
    <p:extLst>
      <p:ext uri="{BB962C8B-B14F-4D97-AF65-F5344CB8AC3E}">
        <p14:creationId xmlns:p14="http://schemas.microsoft.com/office/powerpoint/2010/main" val="40393563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1B38065E-C448-153C-ECD4-D6585549D2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AR" altLang="es-AR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BC2782DD-58C1-F209-366D-B05E379D77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s-AR" altLang="es-AR"/>
              <a:t>Versión 1.3 - 27/05/2014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893F6A97-E2E4-1F91-2B09-3AC77F724C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70405C4-E931-454F-AB46-C5DF1B46464E}" type="slidenum">
              <a:rPr lang="es-AR" altLang="es-AR"/>
              <a:pPr/>
              <a:t>‹Nº›</a:t>
            </a:fld>
            <a:endParaRPr lang="es-AR" altLang="es-AR"/>
          </a:p>
        </p:txBody>
      </p:sp>
    </p:spTree>
    <p:extLst>
      <p:ext uri="{BB962C8B-B14F-4D97-AF65-F5344CB8AC3E}">
        <p14:creationId xmlns:p14="http://schemas.microsoft.com/office/powerpoint/2010/main" val="6665959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1447800"/>
            <a:ext cx="2551462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89397" y="1447800"/>
            <a:ext cx="3898013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129281"/>
            <a:ext cx="2551462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B2205FF4-1223-8B47-612D-9810A6D9CB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AR" altLang="es-AR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E92022B6-4353-5D37-A18D-BC68FB159C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s-AR" altLang="es-AR"/>
              <a:t>Versión 1.3 - 27/05/2014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C5BE21C1-3557-A091-CF07-A2545CD176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800E553-1901-438A-AF62-9696960D51D0}" type="slidenum">
              <a:rPr lang="es-AR" altLang="es-AR"/>
              <a:pPr/>
              <a:t>‹Nº›</a:t>
            </a:fld>
            <a:endParaRPr lang="es-AR" altLang="es-AR"/>
          </a:p>
        </p:txBody>
      </p:sp>
    </p:spTree>
    <p:extLst>
      <p:ext uri="{BB962C8B-B14F-4D97-AF65-F5344CB8AC3E}">
        <p14:creationId xmlns:p14="http://schemas.microsoft.com/office/powerpoint/2010/main" val="8545655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656" y="1854192"/>
            <a:ext cx="3820674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213517" y="1143000"/>
            <a:ext cx="2400925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rtlCol="0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s-ES" noProof="0"/>
              <a:t>Haga clic en el icono para agregar una imagen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657600"/>
            <a:ext cx="3814728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1B7DC895-B4EF-5A99-2014-0F172AF1F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AR" altLang="es-AR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C5ADC931-29F7-1C27-2C90-40E036185A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s-AR" altLang="es-AR"/>
              <a:t>Versión 1.3 - 27/05/2014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74221273-CD3A-AE4F-2717-41F4D4621F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9C00AE6-852A-4C56-A390-95678901548D}" type="slidenum">
              <a:rPr lang="es-AR" altLang="es-AR"/>
              <a:pPr/>
              <a:t>‹Nº›</a:t>
            </a:fld>
            <a:endParaRPr lang="es-AR" altLang="es-AR"/>
          </a:p>
        </p:txBody>
      </p:sp>
    </p:spTree>
    <p:extLst>
      <p:ext uri="{BB962C8B-B14F-4D97-AF65-F5344CB8AC3E}">
        <p14:creationId xmlns:p14="http://schemas.microsoft.com/office/powerpoint/2010/main" val="6852446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4800587"/>
            <a:ext cx="66209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2" y="685800"/>
            <a:ext cx="662096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rtlCol="0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s-ES" noProof="0"/>
              <a:t>Haga clic en el icono para agregar una imagen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3" y="5367325"/>
            <a:ext cx="662096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9960C496-B577-A534-38E6-096F5E2A1E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AR" altLang="es-AR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7317751F-BB14-386B-2492-B459157E39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s-AR" altLang="es-AR"/>
              <a:t>Versión 1.3 - 27/05/2014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32798F8F-66E1-8113-386B-DDE485B5F9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5685908-C378-4F43-9835-3C021BDBA561}" type="slidenum">
              <a:rPr lang="es-AR" altLang="es-AR"/>
              <a:pPr/>
              <a:t>‹Nº›</a:t>
            </a:fld>
            <a:endParaRPr lang="es-AR" altLang="es-AR"/>
          </a:p>
        </p:txBody>
      </p:sp>
    </p:spTree>
    <p:extLst>
      <p:ext uri="{BB962C8B-B14F-4D97-AF65-F5344CB8AC3E}">
        <p14:creationId xmlns:p14="http://schemas.microsoft.com/office/powerpoint/2010/main" val="3926474553"/>
      </p:ext>
    </p:extLst>
  </p:cSld>
  <p:clrMapOvr>
    <a:masterClrMapping/>
  </p:clrMapOvr>
  <p:hf hd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2" y="1447800"/>
            <a:ext cx="6620968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3657600"/>
            <a:ext cx="6620968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F045B227-B1AA-F609-EDF5-9E40FB4DF3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AR" altLang="es-AR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C3F8CEF-49A7-D5C1-8E28-C68AAAD52D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s-AR" altLang="es-AR"/>
              <a:t>Versión 1.3 - 27/05/2014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D220623A-3391-9704-AF41-95EF53262C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31CC087-9242-4C16-8B1D-A1FE08EB6655}" type="slidenum">
              <a:rPr lang="es-AR" altLang="es-AR"/>
              <a:pPr/>
              <a:t>‹Nº›</a:t>
            </a:fld>
            <a:endParaRPr lang="es-AR" altLang="es-AR"/>
          </a:p>
        </p:txBody>
      </p:sp>
    </p:spTree>
    <p:extLst>
      <p:ext uri="{BB962C8B-B14F-4D97-AF65-F5344CB8AC3E}">
        <p14:creationId xmlns:p14="http://schemas.microsoft.com/office/powerpoint/2010/main" val="1799137304"/>
      </p:ext>
    </p:extLst>
  </p:cSld>
  <p:clrMapOvr>
    <a:masterClrMapping/>
  </p:clrMapOvr>
  <p:hf hd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1">
            <a:extLst>
              <a:ext uri="{FF2B5EF4-FFF2-40B4-BE49-F238E27FC236}">
                <a16:creationId xmlns:a16="http://schemas.microsoft.com/office/drawing/2014/main" id="{F423FA0D-B0C4-437D-E171-3D34D6143408}"/>
              </a:ext>
            </a:extLst>
          </p:cNvPr>
          <p:cNvSpPr txBox="1"/>
          <p:nvPr/>
        </p:nvSpPr>
        <p:spPr>
          <a:xfrm>
            <a:off x="674688" y="971550"/>
            <a:ext cx="600075" cy="1970088"/>
          </a:xfrm>
          <a:prstGeom prst="rect">
            <a:avLst/>
          </a:prstGeom>
          <a:noFill/>
        </p:spPr>
        <p:txBody>
          <a:bodyPr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eaLnBrk="1" hangingPunct="1">
              <a:defRPr/>
            </a:pPr>
            <a:r>
              <a:rPr lang="en-US" dirty="0"/>
              <a:t>“</a:t>
            </a:r>
          </a:p>
        </p:txBody>
      </p:sp>
      <p:sp>
        <p:nvSpPr>
          <p:cNvPr id="4" name="TextBox 14">
            <a:extLst>
              <a:ext uri="{FF2B5EF4-FFF2-40B4-BE49-F238E27FC236}">
                <a16:creationId xmlns:a16="http://schemas.microsoft.com/office/drawing/2014/main" id="{42DB0360-F636-A0DF-B432-339C3469A13F}"/>
              </a:ext>
            </a:extLst>
          </p:cNvPr>
          <p:cNvSpPr txBox="1"/>
          <p:nvPr/>
        </p:nvSpPr>
        <p:spPr>
          <a:xfrm>
            <a:off x="6999288" y="2613025"/>
            <a:ext cx="601662" cy="1970088"/>
          </a:xfrm>
          <a:prstGeom prst="rect">
            <a:avLst/>
          </a:prstGeom>
          <a:noFill/>
        </p:spPr>
        <p:txBody>
          <a:bodyPr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eaLnBrk="1" hangingPunct="1">
              <a:defRPr/>
            </a:pPr>
            <a:r>
              <a:rPr lang="en-US" dirty="0"/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1409" y="1447800"/>
            <a:ext cx="6001049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448177" y="3771174"/>
            <a:ext cx="5461159" cy="342174"/>
          </a:xfrm>
        </p:spPr>
        <p:txBody>
          <a:bodyPr rtlCol="0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4350657"/>
            <a:ext cx="6620968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0208EE31-2C78-B0EC-CD83-887EA27E7CFC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AR" altLang="es-AR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15FE7AF0-8B49-2C69-4C11-D77F8D418CEE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s-AR" altLang="es-AR"/>
              <a:t>Versión 1.3 - 27/05/2014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1006BA5F-6D35-EF12-B744-08B8F595477C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/>
            </a:lvl1pPr>
          </a:lstStyle>
          <a:p>
            <a:fld id="{206090DD-863A-4128-91F3-FF6AF735713F}" type="slidenum">
              <a:rPr lang="es-AR" altLang="es-AR"/>
              <a:pPr/>
              <a:t>‹Nº›</a:t>
            </a:fld>
            <a:endParaRPr lang="es-AR" altLang="es-AR"/>
          </a:p>
        </p:txBody>
      </p:sp>
    </p:spTree>
    <p:extLst>
      <p:ext uri="{BB962C8B-B14F-4D97-AF65-F5344CB8AC3E}">
        <p14:creationId xmlns:p14="http://schemas.microsoft.com/office/powerpoint/2010/main" val="2484525092"/>
      </p:ext>
    </p:extLst>
  </p:cSld>
  <p:clrMapOvr>
    <a:masterClrMapping/>
  </p:clrMapOvr>
  <p:hf hd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3124201"/>
            <a:ext cx="6620969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CCAB45-69B6-7CCB-6C8C-BFCC105C1F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AR" altLang="es-A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C89116-3747-44F9-DA85-C0FADCC40D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s-AR" altLang="es-AR"/>
              <a:t>Versión 1.3 - 27/05/2014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5226AD-6982-EB3C-4C90-4826DC8AB7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D878AB3-F35D-423E-9952-8FE971F76243}" type="slidenum">
              <a:rPr lang="es-AR" altLang="es-AR"/>
              <a:pPr/>
              <a:t>‹Nº›</a:t>
            </a:fld>
            <a:endParaRPr lang="es-AR" altLang="es-AR"/>
          </a:p>
        </p:txBody>
      </p:sp>
    </p:spTree>
    <p:extLst>
      <p:ext uri="{BB962C8B-B14F-4D97-AF65-F5344CB8AC3E}">
        <p14:creationId xmlns:p14="http://schemas.microsoft.com/office/powerpoint/2010/main" val="357034800"/>
      </p:ext>
    </p:extLst>
  </p:cSld>
  <p:clrMapOvr>
    <a:masterClrMapping/>
  </p:clrMapOvr>
  <p:hf hd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16">
            <a:extLst>
              <a:ext uri="{FF2B5EF4-FFF2-40B4-BE49-F238E27FC236}">
                <a16:creationId xmlns:a16="http://schemas.microsoft.com/office/drawing/2014/main" id="{462159B8-9BA2-0CBC-CC95-FAB46F70450F}"/>
              </a:ext>
            </a:extLst>
          </p:cNvPr>
          <p:cNvCxnSpPr/>
          <p:nvPr/>
        </p:nvCxnSpPr>
        <p:spPr>
          <a:xfrm>
            <a:off x="2795588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17">
            <a:extLst>
              <a:ext uri="{FF2B5EF4-FFF2-40B4-BE49-F238E27FC236}">
                <a16:creationId xmlns:a16="http://schemas.microsoft.com/office/drawing/2014/main" id="{0AFAE18C-921E-E695-3FE6-A7911C5744CC}"/>
              </a:ext>
            </a:extLst>
          </p:cNvPr>
          <p:cNvCxnSpPr/>
          <p:nvPr/>
        </p:nvCxnSpPr>
        <p:spPr>
          <a:xfrm>
            <a:off x="5222875" y="2133600"/>
            <a:ext cx="0" cy="3967163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4834" y="1981200"/>
            <a:ext cx="22107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489475" y="2667000"/>
            <a:ext cx="2196084" cy="3589338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3504" y="1981200"/>
            <a:ext cx="220275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2905586" y="2667000"/>
            <a:ext cx="2210671" cy="3589338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1981200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5344917" y="2667000"/>
            <a:ext cx="2199658" cy="3589338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E6C6786B-127B-BF73-524A-2442B0D3DF8E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AR" altLang="es-AR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1CDB9BB1-0008-14E4-BE73-913172C936C0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s-AR" altLang="es-AR"/>
              <a:t>Versión 1.3 - 27/05/2014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3CFF2E48-E6D7-11FB-8D69-442B04C1F42F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>
            <a:lvl1pPr>
              <a:defRPr/>
            </a:lvl1pPr>
          </a:lstStyle>
          <a:p>
            <a:fld id="{EB70C0F3-E208-4833-BBEF-D3347AB62F6E}" type="slidenum">
              <a:rPr lang="es-AR" altLang="es-AR"/>
              <a:pPr/>
              <a:t>‹Nº›</a:t>
            </a:fld>
            <a:endParaRPr lang="es-AR" altLang="es-AR"/>
          </a:p>
        </p:txBody>
      </p:sp>
    </p:spTree>
    <p:extLst>
      <p:ext uri="{BB962C8B-B14F-4D97-AF65-F5344CB8AC3E}">
        <p14:creationId xmlns:p14="http://schemas.microsoft.com/office/powerpoint/2010/main" val="3197965180"/>
      </p:ext>
    </p:extLst>
  </p:cSld>
  <p:clrMapOvr>
    <a:masterClrMapping/>
  </p:clrMapOvr>
  <p:hf hd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de image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18">
            <a:extLst>
              <a:ext uri="{FF2B5EF4-FFF2-40B4-BE49-F238E27FC236}">
                <a16:creationId xmlns:a16="http://schemas.microsoft.com/office/drawing/2014/main" id="{CF994320-B97D-C6F1-CA8E-307443BC1B50}"/>
              </a:ext>
            </a:extLst>
          </p:cNvPr>
          <p:cNvCxnSpPr/>
          <p:nvPr/>
        </p:nvCxnSpPr>
        <p:spPr>
          <a:xfrm>
            <a:off x="2795588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19">
            <a:extLst>
              <a:ext uri="{FF2B5EF4-FFF2-40B4-BE49-F238E27FC236}">
                <a16:creationId xmlns:a16="http://schemas.microsoft.com/office/drawing/2014/main" id="{3BBF6B44-4436-7D0F-1963-B55A9C00F7C7}"/>
              </a:ext>
            </a:extLst>
          </p:cNvPr>
          <p:cNvCxnSpPr/>
          <p:nvPr/>
        </p:nvCxnSpPr>
        <p:spPr>
          <a:xfrm>
            <a:off x="5222875" y="2133600"/>
            <a:ext cx="0" cy="3967163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9475" y="4250949"/>
            <a:ext cx="22056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489475" y="2209800"/>
            <a:ext cx="2205612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rtlCol="0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s-ES" noProof="0"/>
              <a:t>Haga clic en el icono para agregar una imagen</a:t>
            </a:r>
            <a:endParaRPr lang="en-US" noProof="0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489475" y="4827212"/>
            <a:ext cx="2205612" cy="65918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7792" y="4250949"/>
            <a:ext cx="21984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2917791" y="2209800"/>
            <a:ext cx="2198466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rtlCol="0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s-ES" noProof="0"/>
              <a:t>Haga clic en el icono para agregar una imagen</a:t>
            </a:r>
            <a:endParaRPr lang="en-US" noProof="0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2916776" y="4827211"/>
            <a:ext cx="2201378" cy="65918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4250949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344916" y="2209800"/>
            <a:ext cx="2199658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rtlCol="0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s-ES" noProof="0"/>
              <a:t>Haga clic en el icono para agregar una imagen</a:t>
            </a:r>
            <a:endParaRPr lang="en-US" noProof="0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5344824" y="4827209"/>
            <a:ext cx="2202571" cy="65918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A61750BD-C7E9-093F-C716-3DE8DFA1AA9C}"/>
              </a:ext>
            </a:extLst>
          </p:cNvPr>
          <p:cNvSpPr>
            <a:spLocks noGrp="1"/>
          </p:cNvSpPr>
          <p:nvPr>
            <p:ph type="dt" sz="half" idx="23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AR" altLang="es-AR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794965E8-29E5-B629-E579-7AFD046F39DB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s-AR" altLang="es-AR"/>
              <a:t>Versión 1.3 - 27/05/2014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EAA6CCB7-6CBE-B734-3CB5-11A697B513BA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>
            <a:lvl1pPr>
              <a:defRPr/>
            </a:lvl1pPr>
          </a:lstStyle>
          <a:p>
            <a:fld id="{2EB837F9-83B9-47FC-91D4-126CDFC89FFE}" type="slidenum">
              <a:rPr lang="es-AR" altLang="es-AR"/>
              <a:pPr/>
              <a:t>‹Nº›</a:t>
            </a:fld>
            <a:endParaRPr lang="es-AR" altLang="es-AR"/>
          </a:p>
        </p:txBody>
      </p:sp>
    </p:spTree>
    <p:extLst>
      <p:ext uri="{BB962C8B-B14F-4D97-AF65-F5344CB8AC3E}">
        <p14:creationId xmlns:p14="http://schemas.microsoft.com/office/powerpoint/2010/main" val="1606185930"/>
      </p:ext>
    </p:extLst>
  </p:cSld>
  <p:clrMapOvr>
    <a:masterClrMapping/>
  </p:clrMapOvr>
  <p:hf hd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A159B8-2DFA-020F-CF20-54BE44C4AD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AR" altLang="es-A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D6FF2E-50BA-B8A1-3AC0-D36621B509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s-AR" altLang="es-AR"/>
              <a:t>Versión 1.3 - 27/05/2014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F5451E-5DF8-5688-82F7-0077978EBA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7018189-2ED6-4948-B4A0-D85089DB2174}" type="slidenum">
              <a:rPr lang="es-AR" altLang="es-AR"/>
              <a:pPr/>
              <a:t>‹Nº›</a:t>
            </a:fld>
            <a:endParaRPr lang="es-AR" altLang="es-AR"/>
          </a:p>
        </p:txBody>
      </p:sp>
    </p:spTree>
    <p:extLst>
      <p:ext uri="{BB962C8B-B14F-4D97-AF65-F5344CB8AC3E}">
        <p14:creationId xmlns:p14="http://schemas.microsoft.com/office/powerpoint/2010/main" val="268177395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229782" y="430214"/>
            <a:ext cx="1314793" cy="5826125"/>
          </a:xfrm>
        </p:spPr>
        <p:txBody>
          <a:bodyPr vert="eaVert" anchor="b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89475" y="773205"/>
            <a:ext cx="5568812" cy="5483134"/>
          </a:xfrm>
        </p:spPr>
        <p:txBody>
          <a:bodyPr vert="eaVert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6F502F-9E17-900C-5C7E-B52905DC91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AR" altLang="es-A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572DEE-775D-54FA-6C24-B9B40116B7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s-AR" altLang="es-AR"/>
              <a:t>Versión 1.3 - 27/05/2014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5EFAC2-08F8-0A93-D1BA-BB0FBAC0AB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38A049E-46BA-49D3-A74D-BB339B67F72F}" type="slidenum">
              <a:rPr lang="es-AR" altLang="es-AR"/>
              <a:pPr/>
              <a:t>‹Nº›</a:t>
            </a:fld>
            <a:endParaRPr lang="es-AR" altLang="es-AR"/>
          </a:p>
        </p:txBody>
      </p:sp>
    </p:spTree>
    <p:extLst>
      <p:ext uri="{BB962C8B-B14F-4D97-AF65-F5344CB8AC3E}">
        <p14:creationId xmlns:p14="http://schemas.microsoft.com/office/powerpoint/2010/main" val="8539914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9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Oval 21">
            <a:extLst>
              <a:ext uri="{FF2B5EF4-FFF2-40B4-BE49-F238E27FC236}">
                <a16:creationId xmlns:a16="http://schemas.microsoft.com/office/drawing/2014/main" id="{C64712A9-C81F-6F59-7B83-B015ABAFE670}"/>
              </a:ext>
            </a:extLst>
          </p:cNvPr>
          <p:cNvSpPr/>
          <p:nvPr/>
        </p:nvSpPr>
        <p:spPr>
          <a:xfrm>
            <a:off x="629943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B71F38DB-56A3-2BD5-3921-A924E412437D}"/>
              </a:ext>
            </a:extLst>
          </p:cNvPr>
          <p:cNvSpPr/>
          <p:nvPr/>
        </p:nvSpPr>
        <p:spPr>
          <a:xfrm>
            <a:off x="5689832" y="-457200"/>
            <a:ext cx="1600200" cy="1600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4000"/>
                </a:schemeClr>
              </a:gs>
              <a:gs pos="73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7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63C41130-2C57-665F-0D71-30061BF4D967}"/>
              </a:ext>
            </a:extLst>
          </p:cNvPr>
          <p:cNvSpPr/>
          <p:nvPr/>
        </p:nvSpPr>
        <p:spPr>
          <a:xfrm>
            <a:off x="6299432" y="6096000"/>
            <a:ext cx="990600" cy="9906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9000"/>
                </a:schemeClr>
              </a:gs>
              <a:gs pos="66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1E32F4B1-B181-30BA-9A37-548858C18D58}"/>
              </a:ext>
            </a:extLst>
          </p:cNvPr>
          <p:cNvSpPr/>
          <p:nvPr/>
        </p:nvSpPr>
        <p:spPr>
          <a:xfrm>
            <a:off x="-153988" y="2667000"/>
            <a:ext cx="4191000" cy="41910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1000"/>
                </a:schemeClr>
              </a:gs>
              <a:gs pos="75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B3CBE330-D794-C475-1E63-D33F81D7B74D}"/>
              </a:ext>
            </a:extLst>
          </p:cNvPr>
          <p:cNvSpPr/>
          <p:nvPr/>
        </p:nvSpPr>
        <p:spPr>
          <a:xfrm>
            <a:off x="-839788" y="2895600"/>
            <a:ext cx="2362200" cy="2362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8000"/>
                </a:schemeClr>
              </a:gs>
              <a:gs pos="72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8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E58FAC9-5836-8CDA-4F6C-89CEEC55893E}"/>
              </a:ext>
            </a:extLst>
          </p:cNvPr>
          <p:cNvSpPr/>
          <p:nvPr/>
        </p:nvSpPr>
        <p:spPr>
          <a:xfrm>
            <a:off x="7745413" y="0"/>
            <a:ext cx="685800" cy="110013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42" name="Title Placeholder 1">
            <a:extLst>
              <a:ext uri="{FF2B5EF4-FFF2-40B4-BE49-F238E27FC236}">
                <a16:creationId xmlns:a16="http://schemas.microsoft.com/office/drawing/2014/main" id="{47219956-B1F5-7BA4-D46F-F3EA9EA4845B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84188" y="452438"/>
            <a:ext cx="7056437" cy="1400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s-ES" altLang="es-AR"/>
              <a:t>Haga clic para modificar el estilo de título del patrón</a:t>
            </a:r>
            <a:endParaRPr lang="en-US" altLang="es-AR"/>
          </a:p>
        </p:txBody>
      </p:sp>
      <p:sp>
        <p:nvSpPr>
          <p:cNvPr id="1043" name="Text Placeholder 2">
            <a:extLst>
              <a:ext uri="{FF2B5EF4-FFF2-40B4-BE49-F238E27FC236}">
                <a16:creationId xmlns:a16="http://schemas.microsoft.com/office/drawing/2014/main" id="{82CA199A-B5A4-E3DA-A62A-3546EC5F96AC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827088" y="2052638"/>
            <a:ext cx="6711950" cy="4195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s-ES" altLang="es-AR"/>
              <a:t>Editar el estilo de texto del patrón</a:t>
            </a:r>
          </a:p>
          <a:p>
            <a:pPr lvl="1"/>
            <a:r>
              <a:rPr lang="es-ES" altLang="es-AR"/>
              <a:t>Segundo nivel</a:t>
            </a:r>
          </a:p>
          <a:p>
            <a:pPr lvl="2"/>
            <a:r>
              <a:rPr lang="es-ES" altLang="es-AR"/>
              <a:t>Tercer nivel</a:t>
            </a:r>
          </a:p>
          <a:p>
            <a:pPr lvl="3"/>
            <a:r>
              <a:rPr lang="es-ES" altLang="es-AR"/>
              <a:t>Cuarto nivel</a:t>
            </a:r>
          </a:p>
          <a:p>
            <a:pPr lvl="4"/>
            <a:r>
              <a:rPr lang="es-ES" altLang="es-AR"/>
              <a:t>Quinto nivel</a:t>
            </a:r>
            <a:endParaRPr lang="en-US" altLang="es-A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A3371C-8DE4-7D87-838B-D4AE834D8F0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7494588" y="1828800"/>
            <a:ext cx="990600" cy="228600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 eaLnBrk="1" hangingPunct="1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pPr>
              <a:defRPr/>
            </a:pPr>
            <a:endParaRPr lang="es-AR" altLang="es-A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8B9727-F889-0D2C-A17E-8896B3FC635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6233318" y="3263107"/>
            <a:ext cx="3859213" cy="2286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pPr>
              <a:defRPr/>
            </a:pPr>
            <a:r>
              <a:rPr lang="es-AR" altLang="es-AR"/>
              <a:t>Versión 1.3 - 27/05/2014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8C0D58-C061-6E9B-2343-D389B3BADEE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 bwMode="gray">
          <a:xfrm>
            <a:off x="7766050" y="295275"/>
            <a:ext cx="628650" cy="76835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sz="2800">
                <a:solidFill>
                  <a:srgbClr val="FFFFFF"/>
                </a:solidFill>
              </a:defRPr>
            </a:lvl1pPr>
          </a:lstStyle>
          <a:p>
            <a:fld id="{54005C2A-E624-402E-8523-2967C56263AE}" type="slidenum">
              <a:rPr lang="es-AR" altLang="es-AR"/>
              <a:pPr/>
              <a:t>‹Nº›</a:t>
            </a:fld>
            <a:endParaRPr lang="es-AR" altLang="es-AR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764" r:id="rId1"/>
    <p:sldLayoutId id="2147483765" r:id="rId2"/>
    <p:sldLayoutId id="2147483766" r:id="rId3"/>
    <p:sldLayoutId id="2147483767" r:id="rId4"/>
    <p:sldLayoutId id="2147483768" r:id="rId5"/>
    <p:sldLayoutId id="2147483769" r:id="rId6"/>
    <p:sldLayoutId id="2147483770" r:id="rId7"/>
    <p:sldLayoutId id="2147483771" r:id="rId8"/>
    <p:sldLayoutId id="2147483772" r:id="rId9"/>
    <p:sldLayoutId id="2147483773" r:id="rId10"/>
    <p:sldLayoutId id="2147483774" r:id="rId11"/>
    <p:sldLayoutId id="2147483778" r:id="rId12"/>
    <p:sldLayoutId id="2147483775" r:id="rId13"/>
    <p:sldLayoutId id="2147483779" r:id="rId14"/>
    <p:sldLayoutId id="2147483780" r:id="rId15"/>
    <p:sldLayoutId id="2147483776" r:id="rId16"/>
    <p:sldLayoutId id="2147483777" r:id="rId17"/>
  </p:sldLayoutIdLst>
  <p:hf hdr="0" dt="0"/>
  <p:txStyles>
    <p:titleStyle>
      <a:lvl1pPr algn="l" defTabSz="457200" rtl="0" eaLnBrk="0" fontAlgn="base" hangingPunct="0">
        <a:spcBef>
          <a:spcPct val="0"/>
        </a:spcBef>
        <a:spcAft>
          <a:spcPct val="0"/>
        </a:spcAft>
        <a:defRPr sz="4200" kern="1200">
          <a:solidFill>
            <a:schemeClr val="tx2"/>
          </a:solidFill>
          <a:latin typeface="+mj-lt"/>
          <a:ea typeface="+mj-ea"/>
          <a:cs typeface="+mj-cs"/>
        </a:defRPr>
      </a:lvl1pPr>
      <a:lvl2pPr algn="l" defTabSz="457200" rtl="0" eaLnBrk="0" fontAlgn="base" hangingPunct="0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Century Gothic" panose="020B0502020202020204" pitchFamily="34" charset="0"/>
        </a:defRPr>
      </a:lvl2pPr>
      <a:lvl3pPr algn="l" defTabSz="457200" rtl="0" eaLnBrk="0" fontAlgn="base" hangingPunct="0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Century Gothic" panose="020B0502020202020204" pitchFamily="34" charset="0"/>
        </a:defRPr>
      </a:lvl3pPr>
      <a:lvl4pPr algn="l" defTabSz="457200" rtl="0" eaLnBrk="0" fontAlgn="base" hangingPunct="0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Century Gothic" panose="020B0502020202020204" pitchFamily="34" charset="0"/>
        </a:defRPr>
      </a:lvl4pPr>
      <a:lvl5pPr algn="l" defTabSz="457200" rtl="0" eaLnBrk="0" fontAlgn="base" hangingPunct="0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Century Gothic" panose="020B0502020202020204" pitchFamily="34" charset="0"/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0" fontAlgn="base" hangingPunct="0">
        <a:spcBef>
          <a:spcPts val="1000"/>
        </a:spcBef>
        <a:spcAft>
          <a:spcPct val="0"/>
        </a:spcAft>
        <a:buClr>
          <a:srgbClr val="8AD0D6"/>
        </a:buClr>
        <a:buSzPct val="80000"/>
        <a:buFont typeface="Wingdings 3" panose="05040102010807070707" pitchFamily="18" charset="2"/>
        <a:buChar char=""/>
        <a:defRPr sz="200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0" fontAlgn="base" hangingPunct="0">
        <a:spcBef>
          <a:spcPts val="1000"/>
        </a:spcBef>
        <a:spcAft>
          <a:spcPct val="0"/>
        </a:spcAft>
        <a:buClr>
          <a:srgbClr val="8AD0D6"/>
        </a:buClr>
        <a:buSzPct val="80000"/>
        <a:buFont typeface="Wingdings 3" panose="05040102010807070707" pitchFamily="18" charset="2"/>
        <a:buChar char=""/>
        <a:defRPr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0" fontAlgn="base" hangingPunct="0">
        <a:spcBef>
          <a:spcPts val="1000"/>
        </a:spcBef>
        <a:spcAft>
          <a:spcPct val="0"/>
        </a:spcAft>
        <a:buClr>
          <a:srgbClr val="8AD0D6"/>
        </a:buClr>
        <a:buSzPct val="80000"/>
        <a:buFont typeface="Wingdings 3" panose="05040102010807070707" pitchFamily="18" charset="2"/>
        <a:buChar char=""/>
        <a:defRPr sz="160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0" fontAlgn="base" hangingPunct="0">
        <a:spcBef>
          <a:spcPts val="1000"/>
        </a:spcBef>
        <a:spcAft>
          <a:spcPct val="0"/>
        </a:spcAft>
        <a:buClr>
          <a:srgbClr val="8AD0D6"/>
        </a:buClr>
        <a:buSzPct val="80000"/>
        <a:buFont typeface="Wingdings 3" panose="05040102010807070707" pitchFamily="18" charset="2"/>
        <a:buChar char=""/>
        <a:defRPr sz="140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0" fontAlgn="base" hangingPunct="0">
        <a:spcBef>
          <a:spcPts val="1000"/>
        </a:spcBef>
        <a:spcAft>
          <a:spcPct val="0"/>
        </a:spcAft>
        <a:buClr>
          <a:srgbClr val="8AD0D6"/>
        </a:buClr>
        <a:buSzPct val="80000"/>
        <a:buFont typeface="Wingdings 3" panose="05040102010807070707" pitchFamily="18" charset="2"/>
        <a:buChar char=""/>
        <a:defRPr sz="140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42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49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5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6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7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15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22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3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38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46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53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6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oleObject" Target="../embeddings/oleObject3.bin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oleObject" Target="../embeddings/oleObject4.bin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oleObject" Target="../embeddings/oleObject5.bin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oleObject" Target="../embeddings/oleObject6.bin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oleObject" Target="../embeddings/oleObject7.bin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98EC1258-11A1-4ABD-3F05-08646D4BF34C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574675" y="228600"/>
            <a:ext cx="8451850" cy="2192338"/>
          </a:xfrm>
        </p:spPr>
        <p:txBody>
          <a:bodyPr/>
          <a:lstStyle/>
          <a:p>
            <a:pPr eaLnBrk="1" hangingPunct="1"/>
            <a:r>
              <a:rPr lang="es-ES_tradnl" altLang="es-AR" sz="5400"/>
              <a:t>Ingeniería de Software</a:t>
            </a:r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75FFE71B-C389-6C9A-D6B7-CA1F6FEF3DAF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574675" y="3716338"/>
            <a:ext cx="6102350" cy="1752600"/>
          </a:xfrm>
        </p:spPr>
        <p:txBody>
          <a:bodyPr rtlCol="0">
            <a:normAutofit/>
          </a:bodyPr>
          <a:lstStyle/>
          <a:p>
            <a:pPr defTabSz="457207" eaLnBrk="1" fontAlgn="auto" hangingPunct="1"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Font typeface="Wingdings 3" charset="2"/>
              <a:buNone/>
              <a:defRPr/>
            </a:pPr>
            <a:r>
              <a:rPr lang="es-ES_tradnl" altLang="es-AR"/>
              <a:t>Ing. Diego Gandino</a:t>
            </a:r>
          </a:p>
        </p:txBody>
      </p:sp>
    </p:spTree>
  </p:cSld>
  <p:clrMapOvr>
    <a:masterClrMapping/>
  </p:clrMapOvr>
  <p:transition spd="slow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91B3FF7D-3B93-B32C-5CB7-8C72A0653D5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90840" tIns="44623" rIns="90840" bIns="44623"/>
          <a:lstStyle/>
          <a:p>
            <a:pPr eaLnBrk="1" hangingPunct="1"/>
            <a:r>
              <a:rPr lang="es-AR" altLang="es-AR"/>
              <a:t>Objetivos</a:t>
            </a:r>
          </a:p>
        </p:txBody>
      </p:sp>
      <p:sp>
        <p:nvSpPr>
          <p:cNvPr id="8195" name="Rectangle 3">
            <a:extLst>
              <a:ext uri="{FF2B5EF4-FFF2-40B4-BE49-F238E27FC236}">
                <a16:creationId xmlns:a16="http://schemas.microsoft.com/office/drawing/2014/main" id="{A1C4BF32-7387-1CC1-274C-7CB542910BE2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574675" y="1752600"/>
            <a:ext cx="8001000" cy="4267200"/>
          </a:xfrm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90840" tIns="44623" rIns="90840" bIns="44623"/>
          <a:lstStyle/>
          <a:p>
            <a:pPr marL="465138" indent="-465138" algn="just" eaLnBrk="1" hangingPunct="1"/>
            <a:r>
              <a:rPr lang="es-AR" altLang="en-US" sz="3700"/>
              <a:t>Conocer los diferentes ciclos de vida en software.</a:t>
            </a:r>
          </a:p>
          <a:p>
            <a:pPr marL="465138" indent="-465138" algn="just" eaLnBrk="1" hangingPunct="1"/>
            <a:r>
              <a:rPr lang="es-AR" altLang="en-US" sz="3700"/>
              <a:t>Comprender las debilidades y fortalezas de cada uno.</a:t>
            </a:r>
          </a:p>
          <a:p>
            <a:pPr marL="465138" indent="-465138" algn="just" eaLnBrk="1" hangingPunct="1"/>
            <a:r>
              <a:rPr lang="es-AR" altLang="en-US" sz="3700"/>
              <a:t>Ser capaz de determinar el mejor para cada situación</a:t>
            </a:r>
          </a:p>
        </p:txBody>
      </p:sp>
      <p:sp>
        <p:nvSpPr>
          <p:cNvPr id="5" name="Marcador de número de diapositiva 5">
            <a:extLst>
              <a:ext uri="{FF2B5EF4-FFF2-40B4-BE49-F238E27FC236}">
                <a16:creationId xmlns:a16="http://schemas.microsoft.com/office/drawing/2014/main" id="{4BAA6C3C-BEF0-D616-830B-9283629364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500" u="sng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1500" u="sng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1500" u="sng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1500" u="sng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1500" u="sng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500" u="sng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500" u="sng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500" u="sng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500" u="sng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206EE985-606D-4F24-ACCE-BD009522D58F}" type="slidenum">
              <a:rPr lang="es-AR" altLang="es-AR" sz="2800">
                <a:solidFill>
                  <a:srgbClr val="FFFFFF"/>
                </a:solidFill>
              </a:rPr>
              <a:pPr/>
              <a:t>2</a:t>
            </a:fld>
            <a:endParaRPr lang="es-AR" altLang="es-AR" sz="2800">
              <a:solidFill>
                <a:srgbClr val="FFFFFF"/>
              </a:solidFill>
            </a:endParaRPr>
          </a:p>
        </p:txBody>
      </p:sp>
    </p:spTree>
  </p:cSld>
  <p:clrMapOvr>
    <a:masterClrMapping/>
  </p:clrMapOvr>
  <p:transition spd="slow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BFBAE9C3-5DF3-B39F-39EF-950C1AF5C7C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s-ES_tradnl" altLang="es-AR"/>
              <a:t>Introducción</a:t>
            </a:r>
          </a:p>
        </p:txBody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4B9C8A8B-165E-34DD-FCF3-25A171D88513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s-ES_tradnl" altLang="es-AR"/>
              <a:t>Cuando se desarrolla algo siempre se sigue una secuencia de pasos para lograr una serie de tareas.</a:t>
            </a:r>
          </a:p>
          <a:p>
            <a:pPr eaLnBrk="1" hangingPunct="1"/>
            <a:r>
              <a:rPr lang="es-ES_tradnl" altLang="es-AR"/>
              <a:t>Por lo general se realizan siempre en el mismo orden</a:t>
            </a:r>
          </a:p>
        </p:txBody>
      </p:sp>
      <p:sp>
        <p:nvSpPr>
          <p:cNvPr id="5" name="Marcador de número de diapositiva 5">
            <a:extLst>
              <a:ext uri="{FF2B5EF4-FFF2-40B4-BE49-F238E27FC236}">
                <a16:creationId xmlns:a16="http://schemas.microsoft.com/office/drawing/2014/main" id="{4B930397-6BC9-D230-BA1F-D937962713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500" u="sng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1500" u="sng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1500" u="sng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1500" u="sng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1500" u="sng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500" u="sng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500" u="sng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500" u="sng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500" u="sng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70666BE2-F721-4887-967D-FBB3BEFAD990}" type="slidenum">
              <a:rPr lang="es-AR" altLang="es-AR" sz="2800">
                <a:solidFill>
                  <a:srgbClr val="FFFFFF"/>
                </a:solidFill>
              </a:rPr>
              <a:pPr/>
              <a:t>3</a:t>
            </a:fld>
            <a:endParaRPr lang="es-AR" altLang="es-AR" sz="2800">
              <a:solidFill>
                <a:srgbClr val="FFFFFF"/>
              </a:solidFill>
            </a:endParaRPr>
          </a:p>
        </p:txBody>
      </p:sp>
    </p:spTree>
  </p:cSld>
  <p:clrMapOvr>
    <a:masterClrMapping/>
  </p:clrMapOvr>
  <p:transition spd="slow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3B67CF83-F8F2-D866-174A-021EED8F680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s-ES_tradnl" altLang="es-AR"/>
              <a:t>Proceso</a:t>
            </a:r>
          </a:p>
        </p:txBody>
      </p:sp>
      <p:sp>
        <p:nvSpPr>
          <p:cNvPr id="11267" name="Rectangle 3">
            <a:extLst>
              <a:ext uri="{FF2B5EF4-FFF2-40B4-BE49-F238E27FC236}">
                <a16:creationId xmlns:a16="http://schemas.microsoft.com/office/drawing/2014/main" id="{5B872E5D-D9CF-D141-B394-3A6E4E7E48FC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s-ES_tradnl" altLang="es-AR" dirty="0"/>
              <a:t>Serie de pasos que involucran actividades, restricciones y recursos para lograr una salida determinada.</a:t>
            </a:r>
          </a:p>
          <a:p>
            <a:pPr eaLnBrk="1" hangingPunct="1">
              <a:defRPr/>
            </a:pPr>
            <a:r>
              <a:rPr lang="es-ES_tradnl" altLang="es-AR" dirty="0"/>
              <a:t>Involucra herramientas y técnicas.</a:t>
            </a:r>
          </a:p>
          <a:p>
            <a:pPr eaLnBrk="1" hangingPunct="1">
              <a:defRPr/>
            </a:pPr>
            <a:r>
              <a:rPr lang="es-ES_tradnl" altLang="es-AR" dirty="0"/>
              <a:t>Actividades fundamentales:</a:t>
            </a:r>
          </a:p>
          <a:p>
            <a:pPr lvl="1" eaLnBrk="1" hangingPunct="1">
              <a:defRPr/>
            </a:pPr>
            <a:r>
              <a:rPr lang="es-ES_tradnl" altLang="es-AR" dirty="0"/>
              <a:t>Especificación: funcionalidad y restricciones</a:t>
            </a:r>
          </a:p>
          <a:p>
            <a:pPr lvl="1" eaLnBrk="1" hangingPunct="1">
              <a:defRPr/>
            </a:pPr>
            <a:r>
              <a:rPr lang="es-ES_tradnl" altLang="es-AR" dirty="0"/>
              <a:t>Diseño e implementación</a:t>
            </a:r>
          </a:p>
          <a:p>
            <a:pPr lvl="1" eaLnBrk="1" hangingPunct="1">
              <a:defRPr/>
            </a:pPr>
            <a:r>
              <a:rPr lang="es-ES_tradnl" altLang="es-AR" dirty="0"/>
              <a:t>Validación</a:t>
            </a:r>
          </a:p>
          <a:p>
            <a:pPr lvl="1" eaLnBrk="1" hangingPunct="1">
              <a:defRPr/>
            </a:pPr>
            <a:r>
              <a:rPr lang="es-ES_tradnl" altLang="es-AR" dirty="0"/>
              <a:t>Evolución</a:t>
            </a:r>
          </a:p>
          <a:p>
            <a:pPr eaLnBrk="1" hangingPunct="1">
              <a:defRPr/>
            </a:pPr>
            <a:r>
              <a:rPr lang="es-ES_tradnl" altLang="es-AR" dirty="0"/>
              <a:t>Conducidos x un plan o procesos ágiles.</a:t>
            </a:r>
          </a:p>
          <a:p>
            <a:pPr marL="0" indent="0" eaLnBrk="1" hangingPunct="1">
              <a:buFont typeface="Wingdings 3" panose="05040102010807070707" pitchFamily="18" charset="2"/>
              <a:buNone/>
              <a:defRPr/>
            </a:pPr>
            <a:endParaRPr lang="es-ES_tradnl" altLang="es-AR" dirty="0"/>
          </a:p>
        </p:txBody>
      </p:sp>
      <p:sp>
        <p:nvSpPr>
          <p:cNvPr id="5" name="Marcador de número de diapositiva 5">
            <a:extLst>
              <a:ext uri="{FF2B5EF4-FFF2-40B4-BE49-F238E27FC236}">
                <a16:creationId xmlns:a16="http://schemas.microsoft.com/office/drawing/2014/main" id="{37A975AD-FE5A-C99A-9C1D-A86F0A2F95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500" u="sng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1500" u="sng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1500" u="sng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1500" u="sng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1500" u="sng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500" u="sng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500" u="sng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500" u="sng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500" u="sng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93CD48CE-02C1-4BD7-BB6E-05A469558288}" type="slidenum">
              <a:rPr lang="es-AR" altLang="es-AR" sz="2800">
                <a:solidFill>
                  <a:srgbClr val="FFFFFF"/>
                </a:solidFill>
              </a:rPr>
              <a:pPr/>
              <a:t>4</a:t>
            </a:fld>
            <a:endParaRPr lang="es-AR" altLang="es-AR" sz="2800">
              <a:solidFill>
                <a:srgbClr val="FFFFFF"/>
              </a:solidFill>
            </a:endParaRPr>
          </a:p>
        </p:txBody>
      </p:sp>
    </p:spTree>
  </p:cSld>
  <p:clrMapOvr>
    <a:masterClrMapping/>
  </p:clrMapOvr>
  <p:transition spd="slow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964D33BD-9CAD-3E8A-F55D-4DAC6CF3FFB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s-ES_tradnl" altLang="es-AR"/>
              <a:t>Características de un proceso</a:t>
            </a:r>
          </a:p>
        </p:txBody>
      </p:sp>
      <p:sp>
        <p:nvSpPr>
          <p:cNvPr id="12291" name="Rectangle 3">
            <a:extLst>
              <a:ext uri="{FF2B5EF4-FFF2-40B4-BE49-F238E27FC236}">
                <a16:creationId xmlns:a16="http://schemas.microsoft.com/office/drawing/2014/main" id="{190E0B30-8447-3E2C-A3BA-9FE7549C5175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81000" y="1752600"/>
            <a:ext cx="8458200" cy="4267200"/>
          </a:xfrm>
        </p:spPr>
        <p:txBody>
          <a:bodyPr/>
          <a:lstStyle/>
          <a:p>
            <a:pPr eaLnBrk="1" hangingPunct="1"/>
            <a:r>
              <a:rPr lang="es-ES_tradnl" altLang="es-AR"/>
              <a:t>Establece todas las actividades</a:t>
            </a:r>
          </a:p>
          <a:p>
            <a:pPr eaLnBrk="1" hangingPunct="1"/>
            <a:r>
              <a:rPr lang="es-ES_tradnl" altLang="es-AR"/>
              <a:t>Usa recursos, sujeto a restricciones.</a:t>
            </a:r>
          </a:p>
          <a:p>
            <a:pPr eaLnBrk="1" hangingPunct="1"/>
            <a:r>
              <a:rPr lang="es-ES_tradnl" altLang="es-AR"/>
              <a:t>Genera productos intermedios y finales</a:t>
            </a:r>
          </a:p>
          <a:p>
            <a:pPr eaLnBrk="1" hangingPunct="1"/>
            <a:r>
              <a:rPr lang="es-ES_tradnl" altLang="es-AR"/>
              <a:t>Puede estar compuesto por subprocesos</a:t>
            </a:r>
          </a:p>
          <a:p>
            <a:pPr eaLnBrk="1" hangingPunct="1"/>
            <a:r>
              <a:rPr lang="es-ES_tradnl" altLang="es-AR"/>
              <a:t>Cada actividad tiene entradas y salidas</a:t>
            </a:r>
          </a:p>
          <a:p>
            <a:pPr eaLnBrk="1" hangingPunct="1"/>
            <a:r>
              <a:rPr lang="es-ES_tradnl" altLang="es-AR"/>
              <a:t>Las actividades se relacionan</a:t>
            </a:r>
          </a:p>
        </p:txBody>
      </p:sp>
      <p:sp>
        <p:nvSpPr>
          <p:cNvPr id="5" name="Marcador de número de diapositiva 5">
            <a:extLst>
              <a:ext uri="{FF2B5EF4-FFF2-40B4-BE49-F238E27FC236}">
                <a16:creationId xmlns:a16="http://schemas.microsoft.com/office/drawing/2014/main" id="{5D85864C-731F-D1E6-6D38-A05317DF92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500" u="sng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1500" u="sng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1500" u="sng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1500" u="sng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1500" u="sng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500" u="sng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500" u="sng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500" u="sng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500" u="sng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AE8E985A-8A18-4450-9F01-CCFDA0CDF288}" type="slidenum">
              <a:rPr lang="es-AR" altLang="es-AR" sz="2800">
                <a:solidFill>
                  <a:srgbClr val="FFFFFF"/>
                </a:solidFill>
              </a:rPr>
              <a:pPr/>
              <a:t>5</a:t>
            </a:fld>
            <a:endParaRPr lang="es-AR" altLang="es-AR" sz="2800">
              <a:solidFill>
                <a:srgbClr val="FFFFFF"/>
              </a:solidFill>
            </a:endParaRPr>
          </a:p>
        </p:txBody>
      </p:sp>
    </p:spTree>
  </p:cSld>
  <p:clrMapOvr>
    <a:masterClrMapping/>
  </p:clrMapOvr>
  <p:transition spd="slow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F571FEE4-97D1-D009-4A56-D688500E8A2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s-ES_tradnl" altLang="es-AR"/>
              <a:t>Ciclo de vida de software</a:t>
            </a:r>
          </a:p>
        </p:txBody>
      </p:sp>
      <p:sp>
        <p:nvSpPr>
          <p:cNvPr id="13315" name="Rectangle 3">
            <a:extLst>
              <a:ext uri="{FF2B5EF4-FFF2-40B4-BE49-F238E27FC236}">
                <a16:creationId xmlns:a16="http://schemas.microsoft.com/office/drawing/2014/main" id="{0E73B9BD-48AF-21EE-0621-6A834BE28987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s-ES_tradnl" altLang="es-AR"/>
              <a:t>Describe la vida de un producto software desde su concepción hasta su implementación, entrega, utilización y mantenimiento.</a:t>
            </a:r>
          </a:p>
          <a:p>
            <a:pPr eaLnBrk="1" hangingPunct="1"/>
            <a:r>
              <a:rPr lang="es-ES_tradnl" altLang="es-AR"/>
              <a:t>Imponen consistencia y estructura.</a:t>
            </a:r>
          </a:p>
          <a:p>
            <a:pPr eaLnBrk="1" hangingPunct="1"/>
            <a:r>
              <a:rPr lang="es-ES_tradnl" altLang="es-AR"/>
              <a:t>Útiles si se sabe como hacer algo bien y se desea asegurar que otros lo hagan bien.</a:t>
            </a:r>
          </a:p>
          <a:p>
            <a:pPr eaLnBrk="1" hangingPunct="1"/>
            <a:r>
              <a:rPr lang="es-ES_tradnl" altLang="es-AR"/>
              <a:t>Adaptable a herramientas y técnicas.</a:t>
            </a:r>
          </a:p>
          <a:p>
            <a:pPr eaLnBrk="1" hangingPunct="1"/>
            <a:r>
              <a:rPr lang="es-ES_tradnl" altLang="es-AR"/>
              <a:t>Son abstracciones para explicar los diferentes enfoques del desarrollo.</a:t>
            </a:r>
          </a:p>
        </p:txBody>
      </p:sp>
      <p:sp>
        <p:nvSpPr>
          <p:cNvPr id="5" name="Marcador de número de diapositiva 5">
            <a:extLst>
              <a:ext uri="{FF2B5EF4-FFF2-40B4-BE49-F238E27FC236}">
                <a16:creationId xmlns:a16="http://schemas.microsoft.com/office/drawing/2014/main" id="{5B3506EB-7481-4BC6-EA93-071598CDA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500" u="sng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1500" u="sng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1500" u="sng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1500" u="sng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1500" u="sng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500" u="sng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500" u="sng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500" u="sng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500" u="sng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14BC2D57-2F9D-454A-95E1-0BF6F4901F57}" type="slidenum">
              <a:rPr lang="es-AR" altLang="es-AR" sz="2800">
                <a:solidFill>
                  <a:srgbClr val="FFFFFF"/>
                </a:solidFill>
              </a:rPr>
              <a:pPr/>
              <a:t>6</a:t>
            </a:fld>
            <a:endParaRPr lang="es-AR" altLang="es-AR" sz="2800">
              <a:solidFill>
                <a:srgbClr val="FFFFFF"/>
              </a:solidFill>
            </a:endParaRPr>
          </a:p>
        </p:txBody>
      </p:sp>
    </p:spTree>
  </p:cSld>
  <p:clrMapOvr>
    <a:masterClrMapping/>
  </p:clrMapOvr>
  <p:transition spd="slow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A7E53BE6-8D61-AD15-EA2A-F15953346B0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s-ES_tradnl" altLang="es-AR"/>
              <a:t>Etapas en el desarrollo de soft</a:t>
            </a:r>
          </a:p>
        </p:txBody>
      </p:sp>
      <p:sp>
        <p:nvSpPr>
          <p:cNvPr id="14339" name="Rectangle 3">
            <a:extLst>
              <a:ext uri="{FF2B5EF4-FFF2-40B4-BE49-F238E27FC236}">
                <a16:creationId xmlns:a16="http://schemas.microsoft.com/office/drawing/2014/main" id="{86276EC5-B3D5-8B67-657C-511A20B395D1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s-ES_tradnl" altLang="es-AR"/>
              <a:t>Análisis y definición de los req.</a:t>
            </a:r>
          </a:p>
          <a:p>
            <a:pPr eaLnBrk="1" hangingPunct="1"/>
            <a:r>
              <a:rPr lang="es-ES_tradnl" altLang="es-AR"/>
              <a:t>Diseño de los sistemas.</a:t>
            </a:r>
          </a:p>
          <a:p>
            <a:pPr eaLnBrk="1" hangingPunct="1"/>
            <a:r>
              <a:rPr lang="es-ES_tradnl" altLang="es-AR"/>
              <a:t>Diseño de los programas.</a:t>
            </a:r>
          </a:p>
          <a:p>
            <a:pPr eaLnBrk="1" hangingPunct="1"/>
            <a:r>
              <a:rPr lang="es-ES_tradnl" altLang="es-AR"/>
              <a:t>Escritura de los programas.</a:t>
            </a:r>
          </a:p>
          <a:p>
            <a:pPr eaLnBrk="1" hangingPunct="1"/>
            <a:r>
              <a:rPr lang="es-ES_tradnl" altLang="es-AR"/>
              <a:t>Prueba unitaria.</a:t>
            </a:r>
          </a:p>
          <a:p>
            <a:pPr eaLnBrk="1" hangingPunct="1"/>
            <a:r>
              <a:rPr lang="es-ES_tradnl" altLang="es-AR"/>
              <a:t>Prueba de integración.</a:t>
            </a:r>
          </a:p>
          <a:p>
            <a:pPr eaLnBrk="1" hangingPunct="1"/>
            <a:r>
              <a:rPr lang="es-ES_tradnl" altLang="es-AR"/>
              <a:t>Prueba del sistema.</a:t>
            </a:r>
          </a:p>
          <a:p>
            <a:pPr eaLnBrk="1" hangingPunct="1"/>
            <a:r>
              <a:rPr lang="es-ES_tradnl" altLang="es-AR"/>
              <a:t>Entrega del sistema, mantenimiento.</a:t>
            </a:r>
          </a:p>
        </p:txBody>
      </p:sp>
      <p:sp>
        <p:nvSpPr>
          <p:cNvPr id="5" name="Marcador de número de diapositiva 5">
            <a:extLst>
              <a:ext uri="{FF2B5EF4-FFF2-40B4-BE49-F238E27FC236}">
                <a16:creationId xmlns:a16="http://schemas.microsoft.com/office/drawing/2014/main" id="{43ABF731-ACE6-34BE-D6EC-76B05817A8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500" u="sng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1500" u="sng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1500" u="sng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1500" u="sng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1500" u="sng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500" u="sng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500" u="sng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500" u="sng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500" u="sng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F1300D2E-44D9-4489-B4A7-B91A86E734AF}" type="slidenum">
              <a:rPr lang="es-AR" altLang="es-AR" sz="2800">
                <a:solidFill>
                  <a:srgbClr val="FFFFFF"/>
                </a:solidFill>
              </a:rPr>
              <a:pPr/>
              <a:t>7</a:t>
            </a:fld>
            <a:endParaRPr lang="es-AR" altLang="es-AR" sz="2800">
              <a:solidFill>
                <a:srgbClr val="FFFFFF"/>
              </a:solidFill>
            </a:endParaRPr>
          </a:p>
        </p:txBody>
      </p:sp>
    </p:spTree>
  </p:cSld>
  <p:clrMapOvr>
    <a:masterClrMapping/>
  </p:clrMapOvr>
  <p:transition spd="slow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05361A88-99F1-7E0F-9373-7E6FEA49813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3400" y="304800"/>
            <a:ext cx="8229600" cy="1216025"/>
          </a:xfrm>
        </p:spPr>
        <p:txBody>
          <a:bodyPr/>
          <a:lstStyle/>
          <a:p>
            <a:pPr eaLnBrk="1" hangingPunct="1"/>
            <a:r>
              <a:rPr lang="es-ES_tradnl" altLang="es-AR"/>
              <a:t>Modelos de procesos de software</a:t>
            </a:r>
          </a:p>
        </p:txBody>
      </p:sp>
      <p:sp>
        <p:nvSpPr>
          <p:cNvPr id="15363" name="Rectangle 3">
            <a:extLst>
              <a:ext uri="{FF2B5EF4-FFF2-40B4-BE49-F238E27FC236}">
                <a16:creationId xmlns:a16="http://schemas.microsoft.com/office/drawing/2014/main" id="{82F8A8F2-BF2A-8A45-D613-66CA47517CC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81000" y="1752600"/>
            <a:ext cx="8382000" cy="4267200"/>
          </a:xfrm>
        </p:spPr>
        <p:txBody>
          <a:bodyPr/>
          <a:lstStyle/>
          <a:p>
            <a:pPr eaLnBrk="1" hangingPunct="1"/>
            <a:r>
              <a:rPr lang="es-ES_tradnl" altLang="es-AR"/>
              <a:t>Ayuda al equipo a encontrar inconsistencias, redundancias y omisiones en el proceso.</a:t>
            </a:r>
          </a:p>
          <a:p>
            <a:pPr eaLnBrk="1" hangingPunct="1"/>
            <a:r>
              <a:rPr lang="es-ES_tradnl" altLang="es-AR"/>
              <a:t>Debe reflejar las metas del desarrollo:</a:t>
            </a:r>
          </a:p>
          <a:p>
            <a:pPr lvl="1" eaLnBrk="1" hangingPunct="1"/>
            <a:r>
              <a:rPr lang="es-ES_tradnl" altLang="es-AR"/>
              <a:t>Soft de alta calidad</a:t>
            </a:r>
          </a:p>
          <a:p>
            <a:pPr lvl="1" eaLnBrk="1" hangingPunct="1"/>
            <a:r>
              <a:rPr lang="es-ES_tradnl" altLang="es-AR"/>
              <a:t>Localización temprana de defectos, etc.</a:t>
            </a:r>
          </a:p>
          <a:p>
            <a:pPr eaLnBrk="1" hangingPunct="1"/>
            <a:r>
              <a:rPr lang="es-ES_tradnl" altLang="es-AR"/>
              <a:t>Debe ser adaptado a la situación actual</a:t>
            </a:r>
          </a:p>
        </p:txBody>
      </p:sp>
      <p:sp>
        <p:nvSpPr>
          <p:cNvPr id="5" name="Marcador de número de diapositiva 5">
            <a:extLst>
              <a:ext uri="{FF2B5EF4-FFF2-40B4-BE49-F238E27FC236}">
                <a16:creationId xmlns:a16="http://schemas.microsoft.com/office/drawing/2014/main" id="{FE9AC05B-64F0-A8BE-3833-DB0BEFB7DB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500" u="sng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1500" u="sng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1500" u="sng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1500" u="sng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1500" u="sng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500" u="sng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500" u="sng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500" u="sng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500" u="sng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1FDB144E-0114-4DA1-A14E-26BF08741B1B}" type="slidenum">
              <a:rPr lang="es-AR" altLang="es-AR" sz="2800">
                <a:solidFill>
                  <a:srgbClr val="FFFFFF"/>
                </a:solidFill>
              </a:rPr>
              <a:pPr/>
              <a:t>8</a:t>
            </a:fld>
            <a:endParaRPr lang="es-AR" altLang="es-AR" sz="2800">
              <a:solidFill>
                <a:srgbClr val="FFFFFF"/>
              </a:solidFill>
            </a:endParaRPr>
          </a:p>
        </p:txBody>
      </p:sp>
    </p:spTree>
  </p:cSld>
  <p:clrMapOvr>
    <a:masterClrMapping/>
  </p:clrMapOvr>
  <p:transition spd="slow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>
            <a:extLst>
              <a:ext uri="{FF2B5EF4-FFF2-40B4-BE49-F238E27FC236}">
                <a16:creationId xmlns:a16="http://schemas.microsoft.com/office/drawing/2014/main" id="{CB01869A-2682-E9A3-0FA7-6A7CAF61176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s-ES_tradnl" altLang="es-AR"/>
              <a:t>Modelo en cascada</a:t>
            </a:r>
          </a:p>
        </p:txBody>
      </p:sp>
      <p:sp>
        <p:nvSpPr>
          <p:cNvPr id="4" name="Marcador de pie de página 4">
            <a:extLst>
              <a:ext uri="{FF2B5EF4-FFF2-40B4-BE49-F238E27FC236}">
                <a16:creationId xmlns:a16="http://schemas.microsoft.com/office/drawing/2014/main" id="{20FDBE88-8DC8-CD4A-56BF-BFDFA9E37D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5400000">
            <a:off x="6233335" y="3263371"/>
            <a:ext cx="3859795" cy="228660"/>
          </a:xfrm>
        </p:spPr>
        <p:txBody>
          <a:bodyPr/>
          <a:lstStyle/>
          <a:p>
            <a:pPr>
              <a:defRPr/>
            </a:pPr>
            <a:r>
              <a:rPr lang="es-AR" altLang="es-AR"/>
              <a:t>Versión 1.3 - 27/05/2014</a:t>
            </a:r>
          </a:p>
        </p:txBody>
      </p:sp>
      <p:sp>
        <p:nvSpPr>
          <p:cNvPr id="5" name="Marcador de número de diapositiva 5">
            <a:extLst>
              <a:ext uri="{FF2B5EF4-FFF2-40B4-BE49-F238E27FC236}">
                <a16:creationId xmlns:a16="http://schemas.microsoft.com/office/drawing/2014/main" id="{EA4562F9-6403-E268-97D7-D4FD1E239A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500" u="sng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1500" u="sng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1500" u="sng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1500" u="sng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1500" u="sng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500" u="sng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500" u="sng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500" u="sng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500" u="sng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40E40E4B-6401-45E1-9A97-0E963B781647}" type="slidenum">
              <a:rPr lang="es-AR" altLang="es-AR" sz="2800">
                <a:solidFill>
                  <a:srgbClr val="FFFFFF"/>
                </a:solidFill>
              </a:rPr>
              <a:pPr/>
              <a:t>9</a:t>
            </a:fld>
            <a:endParaRPr lang="es-AR" altLang="es-AR" sz="2800">
              <a:solidFill>
                <a:srgbClr val="FFFFFF"/>
              </a:solidFill>
            </a:endParaRPr>
          </a:p>
        </p:txBody>
      </p:sp>
      <p:graphicFrame>
        <p:nvGraphicFramePr>
          <p:cNvPr id="16389" name="Object 4">
            <a:extLst>
              <a:ext uri="{FF2B5EF4-FFF2-40B4-BE49-F238E27FC236}">
                <a16:creationId xmlns:a16="http://schemas.microsoft.com/office/drawing/2014/main" id="{5F445FC7-89AC-373E-9125-466AFE00E52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143000" y="1524000"/>
          <a:ext cx="6934200" cy="5276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6203980" imgH="4721024" progId="Visio.Drawing.5">
                  <p:embed/>
                </p:oleObj>
              </mc:Choice>
              <mc:Fallback>
                <p:oleObj name="VISIO" r:id="rId2" imgW="6203980" imgH="4721024" progId="Visio.Drawing.5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3000" y="1524000"/>
                        <a:ext cx="6934200" cy="5276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389D7E97-924A-B5D4-2C54-AA06731879B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es-ES_tradnl" altLang="es-AR"/>
          </a:p>
        </p:txBody>
      </p:sp>
      <p:sp>
        <p:nvSpPr>
          <p:cNvPr id="17411" name="Rectangle 3">
            <a:extLst>
              <a:ext uri="{FF2B5EF4-FFF2-40B4-BE49-F238E27FC236}">
                <a16:creationId xmlns:a16="http://schemas.microsoft.com/office/drawing/2014/main" id="{CE6FAA94-C8CD-3882-3CDB-F9ED40B005F9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s-ES_tradnl" altLang="es-AR"/>
              <a:t>Fue el 1º en focalizar un marco de trabajo por fases.</a:t>
            </a:r>
          </a:p>
          <a:p>
            <a:pPr eaLnBrk="1" hangingPunct="1"/>
            <a:r>
              <a:rPr lang="es-ES_tradnl" altLang="es-AR"/>
              <a:t>Secuencia ordenada de pasos.</a:t>
            </a:r>
          </a:p>
          <a:p>
            <a:pPr eaLnBrk="1" hangingPunct="1"/>
            <a:r>
              <a:rPr lang="es-ES_tradnl" altLang="es-AR"/>
              <a:t>Se realiza una revisión al final de cada etapa</a:t>
            </a:r>
          </a:p>
          <a:p>
            <a:pPr eaLnBrk="1" hangingPunct="1"/>
            <a:r>
              <a:rPr lang="es-ES_tradnl" altLang="es-AR"/>
              <a:t>Dirigido por documentos</a:t>
            </a:r>
          </a:p>
          <a:p>
            <a:pPr eaLnBrk="1" hangingPunct="1"/>
            <a:r>
              <a:rPr lang="es-ES_tradnl" altLang="es-AR"/>
              <a:t>Las etapas no se solapan</a:t>
            </a:r>
          </a:p>
        </p:txBody>
      </p:sp>
      <p:sp>
        <p:nvSpPr>
          <p:cNvPr id="4" name="Marcador de pie de página 4">
            <a:extLst>
              <a:ext uri="{FF2B5EF4-FFF2-40B4-BE49-F238E27FC236}">
                <a16:creationId xmlns:a16="http://schemas.microsoft.com/office/drawing/2014/main" id="{0F00F99F-842F-F3BE-22EE-B3A397A883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5400000">
            <a:off x="6233335" y="3263371"/>
            <a:ext cx="3859795" cy="228660"/>
          </a:xfrm>
        </p:spPr>
        <p:txBody>
          <a:bodyPr/>
          <a:lstStyle/>
          <a:p>
            <a:pPr>
              <a:defRPr/>
            </a:pPr>
            <a:r>
              <a:rPr lang="es-AR" altLang="es-AR"/>
              <a:t>Versión 1.3 - 27/05/2014</a:t>
            </a:r>
          </a:p>
        </p:txBody>
      </p:sp>
      <p:sp>
        <p:nvSpPr>
          <p:cNvPr id="5" name="Marcador de número de diapositiva 5">
            <a:extLst>
              <a:ext uri="{FF2B5EF4-FFF2-40B4-BE49-F238E27FC236}">
                <a16:creationId xmlns:a16="http://schemas.microsoft.com/office/drawing/2014/main" id="{E99DD5B1-F5F3-89CF-942F-2554E74B84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500" u="sng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1500" u="sng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1500" u="sng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1500" u="sng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1500" u="sng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500" u="sng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500" u="sng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500" u="sng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500" u="sng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812EBE86-468F-48C4-A357-9677F7DDD2D8}" type="slidenum">
              <a:rPr lang="es-AR" altLang="es-AR" sz="2800">
                <a:solidFill>
                  <a:srgbClr val="FFFFFF"/>
                </a:solidFill>
              </a:rPr>
              <a:pPr/>
              <a:t>10</a:t>
            </a:fld>
            <a:endParaRPr lang="es-AR" altLang="es-AR" sz="2800">
              <a:solidFill>
                <a:srgbClr val="FFFFFF"/>
              </a:solidFill>
            </a:endParaRPr>
          </a:p>
        </p:txBody>
      </p:sp>
    </p:spTree>
  </p:cSld>
  <p:clrMapOvr>
    <a:masterClrMapping/>
  </p:clrMapOvr>
  <p:transition spd="slow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>
            <a:extLst>
              <a:ext uri="{FF2B5EF4-FFF2-40B4-BE49-F238E27FC236}">
                <a16:creationId xmlns:a16="http://schemas.microsoft.com/office/drawing/2014/main" id="{B34C2E14-E593-8CC0-B360-2D597ED1BF5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es-ES_tradnl" altLang="es-AR"/>
          </a:p>
        </p:txBody>
      </p:sp>
      <p:sp>
        <p:nvSpPr>
          <p:cNvPr id="18435" name="Rectangle 3">
            <a:extLst>
              <a:ext uri="{FF2B5EF4-FFF2-40B4-BE49-F238E27FC236}">
                <a16:creationId xmlns:a16="http://schemas.microsoft.com/office/drawing/2014/main" id="{7FAA9DB5-1950-008F-2643-F5554397191D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566738" y="1752600"/>
            <a:ext cx="8196262" cy="4267200"/>
          </a:xfrm>
        </p:spPr>
        <p:txBody>
          <a:bodyPr/>
          <a:lstStyle/>
          <a:p>
            <a:pPr eaLnBrk="1" hangingPunct="1"/>
            <a:r>
              <a:rPr lang="es-ES_tradnl" altLang="es-AR"/>
              <a:t>Exploración de conceptos y del sistema</a:t>
            </a:r>
          </a:p>
          <a:p>
            <a:pPr eaLnBrk="1" hangingPunct="1"/>
            <a:r>
              <a:rPr lang="es-ES_tradnl" altLang="es-AR"/>
              <a:t>Requerimientos</a:t>
            </a:r>
          </a:p>
          <a:p>
            <a:pPr eaLnBrk="1" hangingPunct="1"/>
            <a:r>
              <a:rPr lang="es-ES_tradnl" altLang="es-AR"/>
              <a:t>Diseño</a:t>
            </a:r>
          </a:p>
          <a:p>
            <a:pPr eaLnBrk="1" hangingPunct="1"/>
            <a:r>
              <a:rPr lang="es-ES_tradnl" altLang="es-AR"/>
              <a:t>Implementación</a:t>
            </a:r>
          </a:p>
          <a:p>
            <a:pPr eaLnBrk="1" hangingPunct="1"/>
            <a:r>
              <a:rPr lang="es-ES_tradnl" altLang="es-AR"/>
              <a:t>Instalación</a:t>
            </a:r>
          </a:p>
          <a:p>
            <a:pPr eaLnBrk="1" hangingPunct="1"/>
            <a:r>
              <a:rPr lang="es-ES_tradnl" altLang="es-AR"/>
              <a:t>Soporte y operaciones</a:t>
            </a:r>
          </a:p>
          <a:p>
            <a:pPr eaLnBrk="1" hangingPunct="1"/>
            <a:r>
              <a:rPr lang="es-ES_tradnl" altLang="es-AR"/>
              <a:t>Mantenimiento</a:t>
            </a:r>
          </a:p>
          <a:p>
            <a:pPr eaLnBrk="1" hangingPunct="1"/>
            <a:r>
              <a:rPr lang="es-ES_tradnl" altLang="es-AR"/>
              <a:t>Retiro</a:t>
            </a:r>
          </a:p>
        </p:txBody>
      </p:sp>
      <p:sp>
        <p:nvSpPr>
          <p:cNvPr id="4" name="Marcador de pie de página 4">
            <a:extLst>
              <a:ext uri="{FF2B5EF4-FFF2-40B4-BE49-F238E27FC236}">
                <a16:creationId xmlns:a16="http://schemas.microsoft.com/office/drawing/2014/main" id="{EA634561-73D7-6CEA-7748-8F07E413DB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5400000">
            <a:off x="6233335" y="3263371"/>
            <a:ext cx="3859795" cy="228660"/>
          </a:xfrm>
        </p:spPr>
        <p:txBody>
          <a:bodyPr/>
          <a:lstStyle/>
          <a:p>
            <a:pPr>
              <a:defRPr/>
            </a:pPr>
            <a:r>
              <a:rPr lang="es-AR" altLang="es-AR"/>
              <a:t>Versión 1.3 - 27/05/2014</a:t>
            </a:r>
          </a:p>
        </p:txBody>
      </p:sp>
      <p:sp>
        <p:nvSpPr>
          <p:cNvPr id="5" name="Marcador de número de diapositiva 5">
            <a:extLst>
              <a:ext uri="{FF2B5EF4-FFF2-40B4-BE49-F238E27FC236}">
                <a16:creationId xmlns:a16="http://schemas.microsoft.com/office/drawing/2014/main" id="{EFC3546F-BFD3-4AAB-FB9E-9548F0233E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500" u="sng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1500" u="sng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1500" u="sng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1500" u="sng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1500" u="sng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500" u="sng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500" u="sng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500" u="sng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500" u="sng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6CF94DE9-FAF9-4DC6-AA22-0633C7519969}" type="slidenum">
              <a:rPr lang="es-AR" altLang="es-AR" sz="2800">
                <a:solidFill>
                  <a:srgbClr val="FFFFFF"/>
                </a:solidFill>
              </a:rPr>
              <a:pPr/>
              <a:t>11</a:t>
            </a:fld>
            <a:endParaRPr lang="es-AR" altLang="es-AR" sz="2800">
              <a:solidFill>
                <a:srgbClr val="FFFFFF"/>
              </a:solidFill>
            </a:endParaRPr>
          </a:p>
        </p:txBody>
      </p:sp>
    </p:spTree>
  </p:cSld>
  <p:clrMapOvr>
    <a:masterClrMapping/>
  </p:clrMapOvr>
  <p:transition spd="slow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5E653825-E2CC-E6E0-BCC2-944653C8AFA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s-ES_tradnl" altLang="es-AR"/>
              <a:t>Ventajas</a:t>
            </a:r>
          </a:p>
        </p:txBody>
      </p:sp>
      <p:sp>
        <p:nvSpPr>
          <p:cNvPr id="19459" name="Rectangle 3">
            <a:extLst>
              <a:ext uri="{FF2B5EF4-FFF2-40B4-BE49-F238E27FC236}">
                <a16:creationId xmlns:a16="http://schemas.microsoft.com/office/drawing/2014/main" id="{9DD5BDE3-5223-15FD-F009-0F354F1F51A5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81000" y="1752600"/>
            <a:ext cx="8763000" cy="4267200"/>
          </a:xfrm>
        </p:spPr>
        <p:txBody>
          <a:bodyPr/>
          <a:lstStyle/>
          <a:p>
            <a:pPr eaLnBrk="1" hangingPunct="1"/>
            <a:r>
              <a:rPr lang="es-ES_tradnl" altLang="es-AR" sz="2600"/>
              <a:t>Util para productos con una definición estable</a:t>
            </a:r>
          </a:p>
          <a:p>
            <a:pPr eaLnBrk="1" hangingPunct="1"/>
            <a:r>
              <a:rPr lang="es-ES_tradnl" altLang="es-AR" sz="2600"/>
              <a:t>Trabajo con metodologías conocidas</a:t>
            </a:r>
          </a:p>
          <a:p>
            <a:pPr eaLnBrk="1" hangingPunct="1"/>
            <a:r>
              <a:rPr lang="es-ES_tradnl" altLang="es-AR" sz="2600"/>
              <a:t>Ayuda a localizar errores en las 1º etapas</a:t>
            </a:r>
          </a:p>
          <a:p>
            <a:pPr eaLnBrk="1" hangingPunct="1"/>
            <a:r>
              <a:rPr lang="es-ES_tradnl" altLang="es-AR" sz="2600"/>
              <a:t>Funciona con personal inexperto.</a:t>
            </a:r>
          </a:p>
          <a:p>
            <a:pPr eaLnBrk="1" hangingPunct="1"/>
            <a:r>
              <a:rPr lang="es-ES_tradnl" altLang="es-AR" sz="2600"/>
              <a:t>Define procedimiento de control de calidad</a:t>
            </a:r>
          </a:p>
          <a:p>
            <a:pPr eaLnBrk="1" hangingPunct="1"/>
            <a:r>
              <a:rPr lang="es-ES_tradnl" altLang="es-AR" sz="2600"/>
              <a:t>Fácil de determinar los hitos</a:t>
            </a:r>
          </a:p>
          <a:p>
            <a:pPr eaLnBrk="1" hangingPunct="1"/>
            <a:r>
              <a:rPr lang="es-ES_tradnl" altLang="es-AR" sz="2600"/>
              <a:t>Permite liberar el personal</a:t>
            </a:r>
            <a:endParaRPr lang="es-ES_tradnl" altLang="es-AR"/>
          </a:p>
        </p:txBody>
      </p:sp>
      <p:sp>
        <p:nvSpPr>
          <p:cNvPr id="4" name="Marcador de pie de página 4">
            <a:extLst>
              <a:ext uri="{FF2B5EF4-FFF2-40B4-BE49-F238E27FC236}">
                <a16:creationId xmlns:a16="http://schemas.microsoft.com/office/drawing/2014/main" id="{D6351750-3EA2-70D5-6EF7-A021988A56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5400000">
            <a:off x="6233335" y="3263371"/>
            <a:ext cx="3859795" cy="228660"/>
          </a:xfrm>
        </p:spPr>
        <p:txBody>
          <a:bodyPr/>
          <a:lstStyle/>
          <a:p>
            <a:pPr>
              <a:defRPr/>
            </a:pPr>
            <a:r>
              <a:rPr lang="es-AR" altLang="es-AR"/>
              <a:t>Versión 1.3 - 27/05/2014</a:t>
            </a:r>
          </a:p>
        </p:txBody>
      </p:sp>
      <p:sp>
        <p:nvSpPr>
          <p:cNvPr id="5" name="Marcador de número de diapositiva 5">
            <a:extLst>
              <a:ext uri="{FF2B5EF4-FFF2-40B4-BE49-F238E27FC236}">
                <a16:creationId xmlns:a16="http://schemas.microsoft.com/office/drawing/2014/main" id="{0726610F-BB55-FCAE-19B9-B304EBA425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500" u="sng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1500" u="sng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1500" u="sng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1500" u="sng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1500" u="sng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500" u="sng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500" u="sng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500" u="sng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500" u="sng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463A16AF-044E-46F5-8A6B-62FD8EF5463E}" type="slidenum">
              <a:rPr lang="es-AR" altLang="es-AR" sz="2800">
                <a:solidFill>
                  <a:srgbClr val="FFFFFF"/>
                </a:solidFill>
              </a:rPr>
              <a:pPr/>
              <a:t>12</a:t>
            </a:fld>
            <a:endParaRPr lang="es-AR" altLang="es-AR" sz="2800">
              <a:solidFill>
                <a:srgbClr val="FFFFFF"/>
              </a:solidFill>
            </a:endParaRPr>
          </a:p>
        </p:txBody>
      </p:sp>
    </p:spTree>
  </p:cSld>
  <p:clrMapOvr>
    <a:masterClrMapping/>
  </p:clrMapOvr>
  <p:transition spd="slow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>
            <a:extLst>
              <a:ext uri="{FF2B5EF4-FFF2-40B4-BE49-F238E27FC236}">
                <a16:creationId xmlns:a16="http://schemas.microsoft.com/office/drawing/2014/main" id="{5E2F5FD2-35B5-7268-CCF0-7DC2620F285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s-ES_tradnl" altLang="es-AR"/>
              <a:t>Desventajas</a:t>
            </a:r>
          </a:p>
        </p:txBody>
      </p:sp>
      <p:sp>
        <p:nvSpPr>
          <p:cNvPr id="20483" name="Rectangle 3">
            <a:extLst>
              <a:ext uri="{FF2B5EF4-FFF2-40B4-BE49-F238E27FC236}">
                <a16:creationId xmlns:a16="http://schemas.microsoft.com/office/drawing/2014/main" id="{F774E813-8B8E-6024-59A2-3949325878CC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566738" y="1600200"/>
            <a:ext cx="8001000" cy="4267200"/>
          </a:xfrm>
        </p:spPr>
        <p:txBody>
          <a:bodyPr/>
          <a:lstStyle/>
          <a:p>
            <a:pPr eaLnBrk="1" hangingPunct="1"/>
            <a:r>
              <a:rPr lang="es-ES_tradnl" altLang="es-AR" sz="2600"/>
              <a:t>Dificultad para especificar los requerimientos</a:t>
            </a:r>
          </a:p>
          <a:p>
            <a:pPr eaLnBrk="1" hangingPunct="1"/>
            <a:r>
              <a:rPr lang="es-ES_tradnl" altLang="es-AR" sz="2600"/>
              <a:t>Olvidar algo supone un error costoso.</a:t>
            </a:r>
          </a:p>
          <a:p>
            <a:pPr eaLnBrk="1" hangingPunct="1"/>
            <a:r>
              <a:rPr lang="es-ES_tradnl" altLang="es-AR" sz="2600"/>
              <a:t>La vuelta atrás es posible pero dificil</a:t>
            </a:r>
          </a:p>
          <a:p>
            <a:pPr eaLnBrk="1" hangingPunct="1"/>
            <a:r>
              <a:rPr lang="es-ES_tradnl" altLang="es-AR" sz="2600"/>
              <a:t>No soporta la iteración</a:t>
            </a:r>
          </a:p>
          <a:p>
            <a:pPr eaLnBrk="1" hangingPunct="1"/>
            <a:r>
              <a:rPr lang="es-ES_tradnl" altLang="es-AR" sz="2600"/>
              <a:t>Los problemas se detectan solo al final</a:t>
            </a:r>
          </a:p>
          <a:p>
            <a:pPr eaLnBrk="1" hangingPunct="1"/>
            <a:r>
              <a:rPr lang="es-ES_tradnl" altLang="es-AR" sz="2600"/>
              <a:t>El usuario no ve el producto hasta terminar</a:t>
            </a:r>
          </a:p>
          <a:p>
            <a:pPr eaLnBrk="1" hangingPunct="1"/>
            <a:r>
              <a:rPr lang="es-ES_tradnl" altLang="es-AR" sz="2600"/>
              <a:t>Gran cantidad de documentación</a:t>
            </a:r>
            <a:endParaRPr lang="es-ES_tradnl" altLang="es-AR"/>
          </a:p>
          <a:p>
            <a:pPr eaLnBrk="1" hangingPunct="1"/>
            <a:endParaRPr lang="es-ES_tradnl" altLang="es-AR"/>
          </a:p>
        </p:txBody>
      </p:sp>
      <p:sp>
        <p:nvSpPr>
          <p:cNvPr id="4" name="Marcador de pie de página 4">
            <a:extLst>
              <a:ext uri="{FF2B5EF4-FFF2-40B4-BE49-F238E27FC236}">
                <a16:creationId xmlns:a16="http://schemas.microsoft.com/office/drawing/2014/main" id="{48FD0B2B-4668-C6C9-FFD7-5F89618429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5400000">
            <a:off x="6233335" y="3263371"/>
            <a:ext cx="3859795" cy="228660"/>
          </a:xfrm>
        </p:spPr>
        <p:txBody>
          <a:bodyPr/>
          <a:lstStyle/>
          <a:p>
            <a:pPr>
              <a:defRPr/>
            </a:pPr>
            <a:r>
              <a:rPr lang="es-AR" altLang="es-AR"/>
              <a:t>Versión 1.3 - 27/05/2014</a:t>
            </a:r>
          </a:p>
        </p:txBody>
      </p:sp>
      <p:sp>
        <p:nvSpPr>
          <p:cNvPr id="5" name="Marcador de número de diapositiva 5">
            <a:extLst>
              <a:ext uri="{FF2B5EF4-FFF2-40B4-BE49-F238E27FC236}">
                <a16:creationId xmlns:a16="http://schemas.microsoft.com/office/drawing/2014/main" id="{974A9C6E-754D-DB71-527F-F59586F915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500" u="sng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1500" u="sng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1500" u="sng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1500" u="sng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1500" u="sng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500" u="sng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500" u="sng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500" u="sng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500" u="sng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EB912E02-E970-4AE4-BEF4-B2D30F0B6D1C}" type="slidenum">
              <a:rPr lang="es-AR" altLang="es-AR" sz="2800">
                <a:solidFill>
                  <a:srgbClr val="FFFFFF"/>
                </a:solidFill>
              </a:rPr>
              <a:pPr/>
              <a:t>13</a:t>
            </a:fld>
            <a:endParaRPr lang="es-AR" altLang="es-AR" sz="2800">
              <a:solidFill>
                <a:srgbClr val="FFFFFF"/>
              </a:solidFill>
            </a:endParaRPr>
          </a:p>
        </p:txBody>
      </p:sp>
    </p:spTree>
  </p:cSld>
  <p:clrMapOvr>
    <a:masterClrMapping/>
  </p:clrMapOvr>
  <p:transition spd="slow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E3A00FC6-48BE-0A73-D73B-3065FF0DD0F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765175"/>
            <a:ext cx="8001000" cy="682625"/>
          </a:xfrm>
        </p:spPr>
        <p:txBody>
          <a:bodyPr/>
          <a:lstStyle/>
          <a:p>
            <a:pPr eaLnBrk="1" hangingPunct="1"/>
            <a:r>
              <a:rPr lang="es-ES_tradnl" altLang="es-AR"/>
              <a:t>El modelo en V</a:t>
            </a:r>
          </a:p>
        </p:txBody>
      </p:sp>
      <p:sp>
        <p:nvSpPr>
          <p:cNvPr id="4" name="Marcador de pie de página 4">
            <a:extLst>
              <a:ext uri="{FF2B5EF4-FFF2-40B4-BE49-F238E27FC236}">
                <a16:creationId xmlns:a16="http://schemas.microsoft.com/office/drawing/2014/main" id="{74F90FE7-8C1B-540E-D628-B1B30F850B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5400000">
            <a:off x="6233335" y="3263371"/>
            <a:ext cx="3859795" cy="228660"/>
          </a:xfrm>
        </p:spPr>
        <p:txBody>
          <a:bodyPr/>
          <a:lstStyle/>
          <a:p>
            <a:pPr>
              <a:defRPr/>
            </a:pPr>
            <a:r>
              <a:rPr lang="es-AR" altLang="es-AR"/>
              <a:t>Versión 1.3 - 27/05/2014</a:t>
            </a:r>
          </a:p>
        </p:txBody>
      </p:sp>
      <p:sp>
        <p:nvSpPr>
          <p:cNvPr id="5" name="Marcador de número de diapositiva 5">
            <a:extLst>
              <a:ext uri="{FF2B5EF4-FFF2-40B4-BE49-F238E27FC236}">
                <a16:creationId xmlns:a16="http://schemas.microsoft.com/office/drawing/2014/main" id="{403D9485-6E98-FB81-8D9E-4F26476A2E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500" u="sng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1500" u="sng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1500" u="sng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1500" u="sng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1500" u="sng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500" u="sng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500" u="sng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500" u="sng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500" u="sng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0BDD9919-6C81-420D-82C8-9DA548BACF1F}" type="slidenum">
              <a:rPr lang="es-AR" altLang="es-AR" sz="2800">
                <a:solidFill>
                  <a:srgbClr val="FFFFFF"/>
                </a:solidFill>
              </a:rPr>
              <a:pPr/>
              <a:t>14</a:t>
            </a:fld>
            <a:endParaRPr lang="es-AR" altLang="es-AR" sz="2800">
              <a:solidFill>
                <a:srgbClr val="FFFFFF"/>
              </a:solidFill>
            </a:endParaRPr>
          </a:p>
        </p:txBody>
      </p:sp>
      <p:graphicFrame>
        <p:nvGraphicFramePr>
          <p:cNvPr id="21509" name="Object 4">
            <a:extLst>
              <a:ext uri="{FF2B5EF4-FFF2-40B4-BE49-F238E27FC236}">
                <a16:creationId xmlns:a16="http://schemas.microsoft.com/office/drawing/2014/main" id="{0B652B9E-18C3-39B8-AB91-31CDD529ED5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524000" y="638175"/>
          <a:ext cx="6629400" cy="5876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5974658" imgH="5295056" progId="Visio.Drawing.5">
                  <p:embed/>
                </p:oleObj>
              </mc:Choice>
              <mc:Fallback>
                <p:oleObj name="VISIO" r:id="rId2" imgW="5974658" imgH="5295056" progId="Visio.Drawing.5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0" y="638175"/>
                        <a:ext cx="6629400" cy="5876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>
            <a:extLst>
              <a:ext uri="{FF2B5EF4-FFF2-40B4-BE49-F238E27FC236}">
                <a16:creationId xmlns:a16="http://schemas.microsoft.com/office/drawing/2014/main" id="{D8B770C3-30B5-23DB-6210-F2771B888A6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es-ES_tradnl" altLang="es-AR"/>
          </a:p>
        </p:txBody>
      </p:sp>
      <p:sp>
        <p:nvSpPr>
          <p:cNvPr id="22531" name="Rectangle 3">
            <a:extLst>
              <a:ext uri="{FF2B5EF4-FFF2-40B4-BE49-F238E27FC236}">
                <a16:creationId xmlns:a16="http://schemas.microsoft.com/office/drawing/2014/main" id="{EF3199C8-2D78-6107-4B7E-A280EC8CC51F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s-ES_tradnl" altLang="es-AR"/>
              <a:t>Variación del modelo en cascada</a:t>
            </a:r>
          </a:p>
          <a:p>
            <a:pPr eaLnBrk="1" hangingPunct="1"/>
            <a:r>
              <a:rPr lang="es-ES_tradnl" altLang="es-AR"/>
              <a:t>Demuestra como se relaciona las pruebas con el análisis y diseño.</a:t>
            </a:r>
          </a:p>
          <a:p>
            <a:pPr eaLnBrk="1" hangingPunct="1"/>
            <a:r>
              <a:rPr lang="es-ES_tradnl" altLang="es-AR"/>
              <a:t>Centra su foco en las actividades y la exactitud.</a:t>
            </a:r>
          </a:p>
          <a:p>
            <a:pPr eaLnBrk="1" hangingPunct="1"/>
            <a:r>
              <a:rPr lang="es-ES_tradnl" altLang="es-AR"/>
              <a:t>Validación: implementación de todos los requerimientos</a:t>
            </a:r>
          </a:p>
          <a:p>
            <a:pPr eaLnBrk="1" hangingPunct="1"/>
            <a:r>
              <a:rPr lang="es-ES_tradnl" altLang="es-AR"/>
              <a:t>Verificación: funciones correctas.</a:t>
            </a:r>
          </a:p>
        </p:txBody>
      </p:sp>
      <p:sp>
        <p:nvSpPr>
          <p:cNvPr id="4" name="Marcador de pie de página 4">
            <a:extLst>
              <a:ext uri="{FF2B5EF4-FFF2-40B4-BE49-F238E27FC236}">
                <a16:creationId xmlns:a16="http://schemas.microsoft.com/office/drawing/2014/main" id="{242AB40E-F9CE-9EA3-2847-2D07F1B6F9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5400000">
            <a:off x="6233335" y="3263371"/>
            <a:ext cx="3859795" cy="228660"/>
          </a:xfrm>
        </p:spPr>
        <p:txBody>
          <a:bodyPr/>
          <a:lstStyle/>
          <a:p>
            <a:pPr>
              <a:defRPr/>
            </a:pPr>
            <a:r>
              <a:rPr lang="es-AR" altLang="es-AR"/>
              <a:t>Versión 1.3 - 27/05/2014</a:t>
            </a:r>
          </a:p>
        </p:txBody>
      </p:sp>
      <p:sp>
        <p:nvSpPr>
          <p:cNvPr id="5" name="Marcador de número de diapositiva 5">
            <a:extLst>
              <a:ext uri="{FF2B5EF4-FFF2-40B4-BE49-F238E27FC236}">
                <a16:creationId xmlns:a16="http://schemas.microsoft.com/office/drawing/2014/main" id="{81B5ACBE-9163-7E12-A167-AC96D4290F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500" u="sng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1500" u="sng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1500" u="sng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1500" u="sng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1500" u="sng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500" u="sng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500" u="sng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500" u="sng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500" u="sng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8104DCEE-8A78-4EC0-892D-35BBD350DDC6}" type="slidenum">
              <a:rPr lang="es-AR" altLang="es-AR" sz="2800">
                <a:solidFill>
                  <a:srgbClr val="FFFFFF"/>
                </a:solidFill>
              </a:rPr>
              <a:pPr/>
              <a:t>15</a:t>
            </a:fld>
            <a:endParaRPr lang="es-AR" altLang="es-AR" sz="2800">
              <a:solidFill>
                <a:srgbClr val="FFFFFF"/>
              </a:solidFill>
            </a:endParaRPr>
          </a:p>
        </p:txBody>
      </p:sp>
    </p:spTree>
  </p:cSld>
  <p:clrMapOvr>
    <a:masterClrMapping/>
  </p:clrMapOvr>
  <p:transition spd="slow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>
            <a:extLst>
              <a:ext uri="{FF2B5EF4-FFF2-40B4-BE49-F238E27FC236}">
                <a16:creationId xmlns:a16="http://schemas.microsoft.com/office/drawing/2014/main" id="{820CA448-56EB-DC31-1F3D-F37D72FC1B2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s-ES_tradnl" altLang="es-AR"/>
              <a:t>Ventajas</a:t>
            </a:r>
          </a:p>
        </p:txBody>
      </p:sp>
      <p:sp>
        <p:nvSpPr>
          <p:cNvPr id="23555" name="Rectangle 3">
            <a:extLst>
              <a:ext uri="{FF2B5EF4-FFF2-40B4-BE49-F238E27FC236}">
                <a16:creationId xmlns:a16="http://schemas.microsoft.com/office/drawing/2014/main" id="{0E488CC0-8839-A273-2C98-4E0DCB944FC8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s-ES_tradnl" altLang="es-AR" sz="2600"/>
              <a:t>Enfatiza el planeamiento para la V&amp;V</a:t>
            </a:r>
          </a:p>
          <a:p>
            <a:pPr eaLnBrk="1" hangingPunct="1"/>
            <a:r>
              <a:rPr lang="es-ES_tradnl" altLang="es-AR" sz="2600"/>
              <a:t>Fácil de usar</a:t>
            </a:r>
          </a:p>
          <a:p>
            <a:pPr eaLnBrk="1" hangingPunct="1"/>
            <a:r>
              <a:rPr lang="es-ES_tradnl" altLang="es-AR" sz="2600"/>
              <a:t>Define los productos que el proceso debería generar y que cada uno debe ser probado</a:t>
            </a:r>
          </a:p>
        </p:txBody>
      </p:sp>
      <p:sp>
        <p:nvSpPr>
          <p:cNvPr id="4" name="Marcador de pie de página 4">
            <a:extLst>
              <a:ext uri="{FF2B5EF4-FFF2-40B4-BE49-F238E27FC236}">
                <a16:creationId xmlns:a16="http://schemas.microsoft.com/office/drawing/2014/main" id="{A1208899-F22F-6DAC-C619-9CFB07899F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5400000">
            <a:off x="6233335" y="3263371"/>
            <a:ext cx="3859795" cy="228660"/>
          </a:xfrm>
        </p:spPr>
        <p:txBody>
          <a:bodyPr/>
          <a:lstStyle/>
          <a:p>
            <a:pPr>
              <a:defRPr/>
            </a:pPr>
            <a:r>
              <a:rPr lang="es-AR" altLang="es-AR"/>
              <a:t>Versión 1.3 - 27/05/2014</a:t>
            </a:r>
          </a:p>
        </p:txBody>
      </p:sp>
      <p:sp>
        <p:nvSpPr>
          <p:cNvPr id="5" name="Marcador de número de diapositiva 5">
            <a:extLst>
              <a:ext uri="{FF2B5EF4-FFF2-40B4-BE49-F238E27FC236}">
                <a16:creationId xmlns:a16="http://schemas.microsoft.com/office/drawing/2014/main" id="{E5DE2B5B-F9A7-3C7D-B45D-A70C25779C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500" u="sng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1500" u="sng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1500" u="sng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1500" u="sng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1500" u="sng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500" u="sng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500" u="sng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500" u="sng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500" u="sng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5AE15DB2-F22F-49A5-AB2F-89E92A59F0B0}" type="slidenum">
              <a:rPr lang="es-AR" altLang="es-AR" sz="2800">
                <a:solidFill>
                  <a:srgbClr val="FFFFFF"/>
                </a:solidFill>
              </a:rPr>
              <a:pPr/>
              <a:t>16</a:t>
            </a:fld>
            <a:endParaRPr lang="es-AR" altLang="es-AR" sz="2800">
              <a:solidFill>
                <a:srgbClr val="FFFFFF"/>
              </a:solidFill>
            </a:endParaRPr>
          </a:p>
        </p:txBody>
      </p:sp>
    </p:spTree>
  </p:cSld>
  <p:clrMapOvr>
    <a:masterClrMapping/>
  </p:clrMapOvr>
  <p:transition spd="slow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8D2D62D8-1B0C-1D1A-0D50-2437A721930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s-ES_tradnl" altLang="es-AR"/>
              <a:t>Desventajas</a:t>
            </a:r>
          </a:p>
        </p:txBody>
      </p:sp>
      <p:sp>
        <p:nvSpPr>
          <p:cNvPr id="24579" name="Rectangle 3">
            <a:extLst>
              <a:ext uri="{FF2B5EF4-FFF2-40B4-BE49-F238E27FC236}">
                <a16:creationId xmlns:a16="http://schemas.microsoft.com/office/drawing/2014/main" id="{A0E19DCF-F393-A421-0FC6-37441F6A812C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566738" y="1752600"/>
            <a:ext cx="8577262" cy="4267200"/>
          </a:xfrm>
        </p:spPr>
        <p:txBody>
          <a:bodyPr/>
          <a:lstStyle/>
          <a:p>
            <a:pPr eaLnBrk="1" hangingPunct="1"/>
            <a:r>
              <a:rPr lang="es-ES_tradnl" altLang="es-AR" sz="2600"/>
              <a:t>No facilita el manejo de eventos concurrentes</a:t>
            </a:r>
          </a:p>
          <a:p>
            <a:pPr eaLnBrk="1" hangingPunct="1"/>
            <a:r>
              <a:rPr lang="es-ES_tradnl" altLang="es-AR" sz="2600"/>
              <a:t>No administra iteracciones entre fases</a:t>
            </a:r>
          </a:p>
          <a:p>
            <a:pPr eaLnBrk="1" hangingPunct="1"/>
            <a:r>
              <a:rPr lang="es-ES_tradnl" altLang="es-AR" sz="2600"/>
              <a:t>No está preparado para el cambio de los req.</a:t>
            </a:r>
          </a:p>
          <a:p>
            <a:pPr eaLnBrk="1" hangingPunct="1"/>
            <a:r>
              <a:rPr lang="es-ES_tradnl" altLang="es-AR" sz="2600"/>
              <a:t>Los requerimientos se prueban demasiado tarde </a:t>
            </a:r>
          </a:p>
        </p:txBody>
      </p:sp>
      <p:sp>
        <p:nvSpPr>
          <p:cNvPr id="4" name="Marcador de pie de página 4">
            <a:extLst>
              <a:ext uri="{FF2B5EF4-FFF2-40B4-BE49-F238E27FC236}">
                <a16:creationId xmlns:a16="http://schemas.microsoft.com/office/drawing/2014/main" id="{C59A77BE-A7C9-37E5-060D-8D5A0674A9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5400000">
            <a:off x="6233335" y="3263371"/>
            <a:ext cx="3859795" cy="228660"/>
          </a:xfrm>
        </p:spPr>
        <p:txBody>
          <a:bodyPr/>
          <a:lstStyle/>
          <a:p>
            <a:pPr>
              <a:defRPr/>
            </a:pPr>
            <a:r>
              <a:rPr lang="es-AR" altLang="es-AR"/>
              <a:t>Versión 1.3 - 27/05/2014</a:t>
            </a:r>
          </a:p>
        </p:txBody>
      </p:sp>
      <p:sp>
        <p:nvSpPr>
          <p:cNvPr id="5" name="Marcador de número de diapositiva 5">
            <a:extLst>
              <a:ext uri="{FF2B5EF4-FFF2-40B4-BE49-F238E27FC236}">
                <a16:creationId xmlns:a16="http://schemas.microsoft.com/office/drawing/2014/main" id="{6E77C403-CD39-745A-2D5B-EEEFE79E2F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500" u="sng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1500" u="sng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1500" u="sng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1500" u="sng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1500" u="sng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500" u="sng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500" u="sng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500" u="sng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500" u="sng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7953F2C9-C9B7-44B8-8326-F5448E7443CA}" type="slidenum">
              <a:rPr lang="es-AR" altLang="es-AR" sz="2800">
                <a:solidFill>
                  <a:srgbClr val="FFFFFF"/>
                </a:solidFill>
              </a:rPr>
              <a:pPr/>
              <a:t>17</a:t>
            </a:fld>
            <a:endParaRPr lang="es-AR" altLang="es-AR" sz="2800">
              <a:solidFill>
                <a:srgbClr val="FFFFFF"/>
              </a:solidFill>
            </a:endParaRPr>
          </a:p>
        </p:txBody>
      </p:sp>
    </p:spTree>
  </p:cSld>
  <p:clrMapOvr>
    <a:masterClrMapping/>
  </p:clrMapOvr>
  <p:transition spd="slow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>
            <a:extLst>
              <a:ext uri="{FF2B5EF4-FFF2-40B4-BE49-F238E27FC236}">
                <a16:creationId xmlns:a16="http://schemas.microsoft.com/office/drawing/2014/main" id="{E4FADF8D-BB45-A7A5-A91D-05B0DA16A43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s-ES_tradnl" altLang="es-AR"/>
              <a:t>Codificar y corregir</a:t>
            </a:r>
          </a:p>
        </p:txBody>
      </p:sp>
      <p:sp>
        <p:nvSpPr>
          <p:cNvPr id="25603" name="Rectangle 3">
            <a:extLst>
              <a:ext uri="{FF2B5EF4-FFF2-40B4-BE49-F238E27FC236}">
                <a16:creationId xmlns:a16="http://schemas.microsoft.com/office/drawing/2014/main" id="{590C252B-1571-5DF1-2B0C-1708F133DFD4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s-ES_tradnl" altLang="es-AR"/>
              <a:t>No se selecciona ningún modelo de ciclo de vida.</a:t>
            </a:r>
          </a:p>
          <a:p>
            <a:pPr eaLnBrk="1" hangingPunct="1"/>
            <a:r>
              <a:rPr lang="es-ES_tradnl" altLang="es-AR"/>
              <a:t>Se comienza con una idea general.</a:t>
            </a:r>
          </a:p>
          <a:p>
            <a:pPr eaLnBrk="1" hangingPunct="1"/>
            <a:r>
              <a:rPr lang="es-ES_tradnl" altLang="es-AR"/>
              <a:t>Ventajas:</a:t>
            </a:r>
          </a:p>
          <a:p>
            <a:pPr lvl="1" eaLnBrk="1" hangingPunct="1"/>
            <a:r>
              <a:rPr lang="es-ES_tradnl" altLang="es-AR"/>
              <a:t>No conlleva ninguna gestión.</a:t>
            </a:r>
          </a:p>
          <a:p>
            <a:pPr lvl="1" eaLnBrk="1" hangingPunct="1"/>
            <a:r>
              <a:rPr lang="es-ES_tradnl" altLang="es-AR"/>
              <a:t>Se muestran inmediatamente progreso.</a:t>
            </a:r>
          </a:p>
          <a:p>
            <a:pPr lvl="1" eaLnBrk="1" hangingPunct="1"/>
            <a:r>
              <a:rPr lang="es-ES_tradnl" altLang="es-AR"/>
              <a:t>Requiere poca experiencia.</a:t>
            </a:r>
          </a:p>
          <a:p>
            <a:pPr eaLnBrk="1" hangingPunct="1"/>
            <a:r>
              <a:rPr lang="es-ES_tradnl" altLang="es-AR"/>
              <a:t>Desventajas</a:t>
            </a:r>
          </a:p>
          <a:p>
            <a:pPr lvl="1" eaLnBrk="1" hangingPunct="1"/>
            <a:r>
              <a:rPr lang="es-ES_tradnl" altLang="es-AR"/>
              <a:t>No proporciona medios de evaluación de calidad o identificación de riesgos</a:t>
            </a:r>
          </a:p>
        </p:txBody>
      </p:sp>
      <p:sp>
        <p:nvSpPr>
          <p:cNvPr id="4" name="Marcador de pie de página 4">
            <a:extLst>
              <a:ext uri="{FF2B5EF4-FFF2-40B4-BE49-F238E27FC236}">
                <a16:creationId xmlns:a16="http://schemas.microsoft.com/office/drawing/2014/main" id="{30312AC4-83A6-5D95-541D-3B324397F5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5400000">
            <a:off x="6233335" y="3263371"/>
            <a:ext cx="3859795" cy="228660"/>
          </a:xfrm>
        </p:spPr>
        <p:txBody>
          <a:bodyPr/>
          <a:lstStyle/>
          <a:p>
            <a:pPr>
              <a:defRPr/>
            </a:pPr>
            <a:r>
              <a:rPr lang="es-AR" altLang="es-AR"/>
              <a:t>Versión 1.3 - 27/05/2014</a:t>
            </a:r>
          </a:p>
        </p:txBody>
      </p:sp>
      <p:sp>
        <p:nvSpPr>
          <p:cNvPr id="5" name="Marcador de número de diapositiva 5">
            <a:extLst>
              <a:ext uri="{FF2B5EF4-FFF2-40B4-BE49-F238E27FC236}">
                <a16:creationId xmlns:a16="http://schemas.microsoft.com/office/drawing/2014/main" id="{EB4E641E-230C-BC98-330E-4A0BD48B96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500" u="sng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1500" u="sng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1500" u="sng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1500" u="sng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1500" u="sng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500" u="sng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500" u="sng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500" u="sng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500" u="sng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28DDBF5B-E6F5-400A-AB3C-3B099413021D}" type="slidenum">
              <a:rPr lang="es-AR" altLang="es-AR" sz="2800">
                <a:solidFill>
                  <a:srgbClr val="FFFFFF"/>
                </a:solidFill>
              </a:rPr>
              <a:pPr/>
              <a:t>18</a:t>
            </a:fld>
            <a:endParaRPr lang="es-AR" altLang="es-AR" sz="2800">
              <a:solidFill>
                <a:srgbClr val="FFFFFF"/>
              </a:solidFill>
            </a:endParaRPr>
          </a:p>
        </p:txBody>
      </p:sp>
    </p:spTree>
  </p:cSld>
  <p:clrMapOvr>
    <a:masterClrMapping/>
  </p:clrMapOvr>
  <p:transition spd="slow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>
            <a:extLst>
              <a:ext uri="{FF2B5EF4-FFF2-40B4-BE49-F238E27FC236}">
                <a16:creationId xmlns:a16="http://schemas.microsoft.com/office/drawing/2014/main" id="{FB9B3F80-53A5-F419-2025-1AAAFCB55FE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s-ES_tradnl" altLang="es-AR"/>
              <a:t>Espiral</a:t>
            </a:r>
          </a:p>
        </p:txBody>
      </p:sp>
      <p:sp>
        <p:nvSpPr>
          <p:cNvPr id="4" name="Marcador de pie de página 4">
            <a:extLst>
              <a:ext uri="{FF2B5EF4-FFF2-40B4-BE49-F238E27FC236}">
                <a16:creationId xmlns:a16="http://schemas.microsoft.com/office/drawing/2014/main" id="{DAEA16F0-0132-681E-C057-23996E60A0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5400000">
            <a:off x="6233335" y="3263371"/>
            <a:ext cx="3859795" cy="228660"/>
          </a:xfrm>
        </p:spPr>
        <p:txBody>
          <a:bodyPr/>
          <a:lstStyle/>
          <a:p>
            <a:pPr>
              <a:defRPr/>
            </a:pPr>
            <a:r>
              <a:rPr lang="es-AR" altLang="es-AR"/>
              <a:t>Versión 1.3 - 27/05/2014</a:t>
            </a:r>
          </a:p>
        </p:txBody>
      </p:sp>
      <p:sp>
        <p:nvSpPr>
          <p:cNvPr id="5" name="Marcador de número de diapositiva 5">
            <a:extLst>
              <a:ext uri="{FF2B5EF4-FFF2-40B4-BE49-F238E27FC236}">
                <a16:creationId xmlns:a16="http://schemas.microsoft.com/office/drawing/2014/main" id="{DB361DD7-27D0-71E6-DD0E-29688B83DC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500" u="sng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1500" u="sng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1500" u="sng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1500" u="sng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1500" u="sng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500" u="sng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500" u="sng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500" u="sng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500" u="sng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EF47E378-C22D-4801-B5EF-71A76BAE4899}" type="slidenum">
              <a:rPr lang="es-AR" altLang="es-AR" sz="2800">
                <a:solidFill>
                  <a:srgbClr val="FFFFFF"/>
                </a:solidFill>
              </a:rPr>
              <a:pPr/>
              <a:t>19</a:t>
            </a:fld>
            <a:endParaRPr lang="es-AR" altLang="es-AR" sz="2800">
              <a:solidFill>
                <a:srgbClr val="FFFFFF"/>
              </a:solidFill>
            </a:endParaRPr>
          </a:p>
        </p:txBody>
      </p:sp>
      <p:pic>
        <p:nvPicPr>
          <p:cNvPr id="26629" name="Picture 4" descr="espiral1">
            <a:extLst>
              <a:ext uri="{FF2B5EF4-FFF2-40B4-BE49-F238E27FC236}">
                <a16:creationId xmlns:a16="http://schemas.microsoft.com/office/drawing/2014/main" id="{56C0936E-EBEF-9955-7896-AF09138598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0200" y="457200"/>
            <a:ext cx="7086600" cy="6234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ie de página 3">
            <a:extLst>
              <a:ext uri="{FF2B5EF4-FFF2-40B4-BE49-F238E27FC236}">
                <a16:creationId xmlns:a16="http://schemas.microsoft.com/office/drawing/2014/main" id="{C8BE100E-7876-BC70-146B-54E86EADB6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5400000">
            <a:off x="6233335" y="3263371"/>
            <a:ext cx="3859795" cy="228660"/>
          </a:xfrm>
        </p:spPr>
        <p:txBody>
          <a:bodyPr/>
          <a:lstStyle/>
          <a:p>
            <a:pPr>
              <a:defRPr/>
            </a:pPr>
            <a:r>
              <a:rPr lang="es-AR" altLang="es-AR"/>
              <a:t>Versión 1.3 - 27/05/2014</a:t>
            </a:r>
          </a:p>
        </p:txBody>
      </p:sp>
      <p:sp>
        <p:nvSpPr>
          <p:cNvPr id="4" name="Marcador de número de diapositiva 4">
            <a:extLst>
              <a:ext uri="{FF2B5EF4-FFF2-40B4-BE49-F238E27FC236}">
                <a16:creationId xmlns:a16="http://schemas.microsoft.com/office/drawing/2014/main" id="{586E7C4B-B8E2-D54B-511E-F2C0A04FCF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500" u="sng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1500" u="sng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1500" u="sng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1500" u="sng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1500" u="sng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500" u="sng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500" u="sng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500" u="sng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500" u="sng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7C8B61EB-DFA5-47BA-A56E-B98FF30914AB}" type="slidenum">
              <a:rPr lang="es-AR" altLang="es-AR" sz="2800">
                <a:solidFill>
                  <a:srgbClr val="FFFFFF"/>
                </a:solidFill>
              </a:rPr>
              <a:pPr/>
              <a:t>20</a:t>
            </a:fld>
            <a:endParaRPr lang="es-AR" altLang="es-AR" sz="2800">
              <a:solidFill>
                <a:srgbClr val="FFFFFF"/>
              </a:solidFill>
            </a:endParaRPr>
          </a:p>
        </p:txBody>
      </p:sp>
      <p:sp>
        <p:nvSpPr>
          <p:cNvPr id="27652" name="Rectangle 5">
            <a:extLst>
              <a:ext uri="{FF2B5EF4-FFF2-40B4-BE49-F238E27FC236}">
                <a16:creationId xmlns:a16="http://schemas.microsoft.com/office/drawing/2014/main" id="{27D56386-A64A-E0EC-CF97-C1A0D0F218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6738" y="1752600"/>
            <a:ext cx="8001000" cy="426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469900" indent="-469900">
              <a:defRPr sz="1500" u="sng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908050" indent="-436563">
              <a:defRPr sz="1500" u="sng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304925" indent="-395288">
              <a:defRPr sz="1500" u="sng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93863" indent="-387350">
              <a:defRPr sz="1500" u="sng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93913" indent="-398463">
              <a:defRPr sz="1500" u="sng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51113" indent="-398463" eaLnBrk="0" fontAlgn="base" hangingPunct="0">
              <a:spcBef>
                <a:spcPct val="0"/>
              </a:spcBef>
              <a:spcAft>
                <a:spcPct val="0"/>
              </a:spcAft>
              <a:defRPr sz="1500" u="sng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3008313" indent="-398463" eaLnBrk="0" fontAlgn="base" hangingPunct="0">
              <a:spcBef>
                <a:spcPct val="0"/>
              </a:spcBef>
              <a:spcAft>
                <a:spcPct val="0"/>
              </a:spcAft>
              <a:defRPr sz="1500" u="sng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65513" indent="-398463" eaLnBrk="0" fontAlgn="base" hangingPunct="0">
              <a:spcBef>
                <a:spcPct val="0"/>
              </a:spcBef>
              <a:spcAft>
                <a:spcPct val="0"/>
              </a:spcAft>
              <a:defRPr sz="1500" u="sng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922713" indent="-398463" eaLnBrk="0" fontAlgn="base" hangingPunct="0">
              <a:spcBef>
                <a:spcPct val="0"/>
              </a:spcBef>
              <a:spcAft>
                <a:spcPct val="0"/>
              </a:spcAft>
              <a:defRPr sz="1500" u="sng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</a:pPr>
            <a:r>
              <a:rPr lang="es-ES_tradnl" altLang="es-AR" sz="3000" u="none"/>
              <a:t>Orientado a riesgos.</a:t>
            </a:r>
          </a:p>
          <a:p>
            <a:pPr eaLnBrk="1" hangingPunct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</a:pPr>
            <a:r>
              <a:rPr lang="es-ES_tradnl" altLang="es-AR" sz="3000" u="none"/>
              <a:t>Divide un proyecto en subproyectos.</a:t>
            </a:r>
          </a:p>
          <a:p>
            <a:pPr eaLnBrk="1" hangingPunct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</a:pPr>
            <a:r>
              <a:rPr lang="es-ES_tradnl" altLang="es-AR" sz="3000" u="none"/>
              <a:t>Finaliza del mismo modo que el ciclo de vida en cascada</a:t>
            </a:r>
          </a:p>
          <a:p>
            <a:pPr eaLnBrk="1" hangingPunct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</a:pPr>
            <a:r>
              <a:rPr lang="es-ES_tradnl" altLang="es-AR" sz="3000" u="none"/>
              <a:t>Se tienen punto de verificación en cada iteración.</a:t>
            </a:r>
          </a:p>
          <a:p>
            <a:pPr eaLnBrk="1" hangingPunct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</a:pPr>
            <a:r>
              <a:rPr lang="es-ES_tradnl" altLang="es-AR" sz="3000" u="none"/>
              <a:t>Es un modelo complicado</a:t>
            </a:r>
          </a:p>
        </p:txBody>
      </p:sp>
    </p:spTree>
  </p:cSld>
  <p:clrMapOvr>
    <a:masterClrMapping/>
  </p:clrMapOvr>
  <p:transition spd="slow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>
            <a:extLst>
              <a:ext uri="{FF2B5EF4-FFF2-40B4-BE49-F238E27FC236}">
                <a16:creationId xmlns:a16="http://schemas.microsoft.com/office/drawing/2014/main" id="{AD4E9905-0DB3-B646-E64A-7339ABAEB28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s-ES_tradnl" altLang="es-AR"/>
              <a:t>Ventajas</a:t>
            </a:r>
          </a:p>
        </p:txBody>
      </p:sp>
      <p:sp>
        <p:nvSpPr>
          <p:cNvPr id="28675" name="Rectangle 3">
            <a:extLst>
              <a:ext uri="{FF2B5EF4-FFF2-40B4-BE49-F238E27FC236}">
                <a16:creationId xmlns:a16="http://schemas.microsoft.com/office/drawing/2014/main" id="{199264DF-3D6E-34C0-E749-1D0D80A45AE7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566738" y="1752600"/>
            <a:ext cx="8348662" cy="4267200"/>
          </a:xfrm>
        </p:spPr>
        <p:txBody>
          <a:bodyPr/>
          <a:lstStyle/>
          <a:p>
            <a:pPr eaLnBrk="1" hangingPunct="1"/>
            <a:r>
              <a:rPr lang="es-ES_tradnl" altLang="es-AR" sz="2600"/>
              <a:t>Permite que el usuario valide el producto</a:t>
            </a:r>
          </a:p>
          <a:p>
            <a:pPr eaLnBrk="1" hangingPunct="1"/>
            <a:r>
              <a:rPr lang="es-ES_tradnl" altLang="es-AR" sz="2600"/>
              <a:t>Provee en forma rápida indicadores de riesgo</a:t>
            </a:r>
          </a:p>
          <a:p>
            <a:pPr eaLnBrk="1" hangingPunct="1"/>
            <a:r>
              <a:rPr lang="es-ES_tradnl" altLang="es-AR" sz="2600"/>
              <a:t>El usuario se relaciona con el desarrollo</a:t>
            </a:r>
          </a:p>
          <a:p>
            <a:pPr eaLnBrk="1" hangingPunct="1"/>
            <a:r>
              <a:rPr lang="es-ES_tradnl" altLang="es-AR" sz="2600"/>
              <a:t>Combina las ventajas del modelo en cascada con el incremental</a:t>
            </a:r>
          </a:p>
          <a:p>
            <a:pPr eaLnBrk="1" hangingPunct="1"/>
            <a:r>
              <a:rPr lang="es-ES_tradnl" altLang="es-AR" sz="2600"/>
              <a:t>Incrementa la posibilidad de obtener un producto de calidad</a:t>
            </a:r>
          </a:p>
          <a:p>
            <a:pPr eaLnBrk="1" hangingPunct="1"/>
            <a:r>
              <a:rPr lang="es-ES_tradnl" altLang="es-AR" sz="2600"/>
              <a:t>Posibilita la evaluación constante de los costos</a:t>
            </a:r>
          </a:p>
        </p:txBody>
      </p:sp>
      <p:sp>
        <p:nvSpPr>
          <p:cNvPr id="4" name="Marcador de pie de página 4">
            <a:extLst>
              <a:ext uri="{FF2B5EF4-FFF2-40B4-BE49-F238E27FC236}">
                <a16:creationId xmlns:a16="http://schemas.microsoft.com/office/drawing/2014/main" id="{80BC0A29-C43B-AA78-3D06-52BF65CA82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5400000">
            <a:off x="6233335" y="3263371"/>
            <a:ext cx="3859795" cy="228660"/>
          </a:xfrm>
        </p:spPr>
        <p:txBody>
          <a:bodyPr/>
          <a:lstStyle/>
          <a:p>
            <a:pPr>
              <a:defRPr/>
            </a:pPr>
            <a:r>
              <a:rPr lang="es-AR" altLang="es-AR"/>
              <a:t>Versión 1.3 - 27/05/2014</a:t>
            </a:r>
          </a:p>
        </p:txBody>
      </p:sp>
      <p:sp>
        <p:nvSpPr>
          <p:cNvPr id="5" name="Marcador de número de diapositiva 5">
            <a:extLst>
              <a:ext uri="{FF2B5EF4-FFF2-40B4-BE49-F238E27FC236}">
                <a16:creationId xmlns:a16="http://schemas.microsoft.com/office/drawing/2014/main" id="{D552B2BE-C538-99D6-D500-C3AC0EDEF6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500" u="sng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1500" u="sng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1500" u="sng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1500" u="sng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1500" u="sng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500" u="sng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500" u="sng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500" u="sng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500" u="sng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C1F9FF01-0E10-4FA2-B919-C07A55AFE64B}" type="slidenum">
              <a:rPr lang="es-AR" altLang="es-AR" sz="2800">
                <a:solidFill>
                  <a:srgbClr val="FFFFFF"/>
                </a:solidFill>
              </a:rPr>
              <a:pPr/>
              <a:t>21</a:t>
            </a:fld>
            <a:endParaRPr lang="es-AR" altLang="es-AR" sz="2800">
              <a:solidFill>
                <a:srgbClr val="FFFFFF"/>
              </a:solidFill>
            </a:endParaRPr>
          </a:p>
        </p:txBody>
      </p:sp>
    </p:spTree>
  </p:cSld>
  <p:clrMapOvr>
    <a:masterClrMapping/>
  </p:clrMapOvr>
  <p:transition spd="slow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>
            <a:extLst>
              <a:ext uri="{FF2B5EF4-FFF2-40B4-BE49-F238E27FC236}">
                <a16:creationId xmlns:a16="http://schemas.microsoft.com/office/drawing/2014/main" id="{FF14BADF-82E0-85B0-50E8-3DC79129BCD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s-ES_tradnl" altLang="es-AR"/>
              <a:t>Desventajas</a:t>
            </a:r>
          </a:p>
        </p:txBody>
      </p:sp>
      <p:sp>
        <p:nvSpPr>
          <p:cNvPr id="209923" name="Rectangle 3">
            <a:extLst>
              <a:ext uri="{FF2B5EF4-FFF2-40B4-BE49-F238E27FC236}">
                <a16:creationId xmlns:a16="http://schemas.microsoft.com/office/drawing/2014/main" id="{E0B64EEE-BE3B-65D4-190C-B8F29BA87E87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 rtlCol="0">
            <a:normAutofit fontScale="92500"/>
          </a:bodyPr>
          <a:lstStyle/>
          <a:p>
            <a:pPr marL="342906" indent="-342906" defTabSz="457207" eaLnBrk="1" fontAlgn="auto" hangingPunct="1"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Font typeface="Wingdings 3" charset="2"/>
              <a:buChar char=""/>
              <a:defRPr/>
            </a:pPr>
            <a:r>
              <a:rPr lang="es-ES_tradnl" altLang="es-AR" sz="2600"/>
              <a:t>Si el proyecto es de bajo riesgo o pequeño el modelo puede ser costoso</a:t>
            </a:r>
          </a:p>
          <a:p>
            <a:pPr marL="342906" indent="-342906" defTabSz="457207" eaLnBrk="1" fontAlgn="auto" hangingPunct="1"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Font typeface="Wingdings 3" charset="2"/>
              <a:buChar char=""/>
              <a:defRPr/>
            </a:pPr>
            <a:r>
              <a:rPr lang="es-ES_tradnl" altLang="es-AR" sz="2600"/>
              <a:t>Puede resultar muy complejo</a:t>
            </a:r>
          </a:p>
          <a:p>
            <a:pPr marL="342906" indent="-342906" defTabSz="457207" eaLnBrk="1" fontAlgn="auto" hangingPunct="1"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Font typeface="Wingdings 3" charset="2"/>
              <a:buChar char=""/>
              <a:defRPr/>
            </a:pPr>
            <a:r>
              <a:rPr lang="es-ES_tradnl" altLang="es-AR" sz="2600"/>
              <a:t>Requiere amplia habilidades en riesgos</a:t>
            </a:r>
          </a:p>
          <a:p>
            <a:pPr marL="342906" indent="-342906" defTabSz="457207" eaLnBrk="1" fontAlgn="auto" hangingPunct="1"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Font typeface="Wingdings 3" charset="2"/>
              <a:buChar char=""/>
              <a:defRPr/>
            </a:pPr>
            <a:r>
              <a:rPr lang="es-ES_tradnl" altLang="es-AR" sz="2600"/>
              <a:t>El espiral puede continuar indefinidamente</a:t>
            </a:r>
          </a:p>
          <a:p>
            <a:pPr marL="342906" indent="-342906" defTabSz="457207" eaLnBrk="1" fontAlgn="auto" hangingPunct="1"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Font typeface="Wingdings 3" charset="2"/>
              <a:buChar char=""/>
              <a:defRPr/>
            </a:pPr>
            <a:r>
              <a:rPr lang="es-ES_tradnl" altLang="es-AR" sz="2600"/>
              <a:t>El gran número de etapas intermedias puede generar mucha documentación</a:t>
            </a:r>
          </a:p>
        </p:txBody>
      </p:sp>
      <p:sp>
        <p:nvSpPr>
          <p:cNvPr id="4" name="Marcador de pie de página 4">
            <a:extLst>
              <a:ext uri="{FF2B5EF4-FFF2-40B4-BE49-F238E27FC236}">
                <a16:creationId xmlns:a16="http://schemas.microsoft.com/office/drawing/2014/main" id="{3E23BACA-8E9F-BDC2-A08A-E516CE8ACC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5400000">
            <a:off x="6233335" y="3263371"/>
            <a:ext cx="3859795" cy="228660"/>
          </a:xfrm>
        </p:spPr>
        <p:txBody>
          <a:bodyPr/>
          <a:lstStyle/>
          <a:p>
            <a:pPr>
              <a:defRPr/>
            </a:pPr>
            <a:r>
              <a:rPr lang="es-AR" altLang="es-AR"/>
              <a:t>Versión 1.3 - 27/05/2014</a:t>
            </a:r>
          </a:p>
        </p:txBody>
      </p:sp>
      <p:sp>
        <p:nvSpPr>
          <p:cNvPr id="5" name="Marcador de número de diapositiva 5">
            <a:extLst>
              <a:ext uri="{FF2B5EF4-FFF2-40B4-BE49-F238E27FC236}">
                <a16:creationId xmlns:a16="http://schemas.microsoft.com/office/drawing/2014/main" id="{51F493D1-6901-E056-B998-43FD319A27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500" u="sng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1500" u="sng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1500" u="sng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1500" u="sng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1500" u="sng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500" u="sng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500" u="sng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500" u="sng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500" u="sng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A295AFAC-66A7-43F7-A1D8-996BEC6D3B74}" type="slidenum">
              <a:rPr lang="es-AR" altLang="es-AR" sz="2800">
                <a:solidFill>
                  <a:srgbClr val="FFFFFF"/>
                </a:solidFill>
              </a:rPr>
              <a:pPr/>
              <a:t>22</a:t>
            </a:fld>
            <a:endParaRPr lang="es-AR" altLang="es-AR" sz="2800">
              <a:solidFill>
                <a:srgbClr val="FFFFFF"/>
              </a:solidFill>
            </a:endParaRPr>
          </a:p>
        </p:txBody>
      </p:sp>
    </p:spTree>
  </p:cSld>
  <p:clrMapOvr>
    <a:masterClrMapping/>
  </p:clrMapOvr>
  <p:transition spd="slow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>
            <a:extLst>
              <a:ext uri="{FF2B5EF4-FFF2-40B4-BE49-F238E27FC236}">
                <a16:creationId xmlns:a16="http://schemas.microsoft.com/office/drawing/2014/main" id="{6E2FD058-D71B-33F5-89CC-4967F357072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s-ES_tradnl" altLang="es-AR"/>
              <a:t>Cascada modificado (Sashimi)</a:t>
            </a:r>
          </a:p>
        </p:txBody>
      </p:sp>
      <p:sp>
        <p:nvSpPr>
          <p:cNvPr id="4" name="Marcador de pie de página 4">
            <a:extLst>
              <a:ext uri="{FF2B5EF4-FFF2-40B4-BE49-F238E27FC236}">
                <a16:creationId xmlns:a16="http://schemas.microsoft.com/office/drawing/2014/main" id="{90CC4FEF-45E2-AF50-BBCF-0F7DC32748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5400000">
            <a:off x="6233335" y="3263371"/>
            <a:ext cx="3859795" cy="228660"/>
          </a:xfrm>
        </p:spPr>
        <p:txBody>
          <a:bodyPr/>
          <a:lstStyle/>
          <a:p>
            <a:pPr>
              <a:defRPr/>
            </a:pPr>
            <a:r>
              <a:rPr lang="es-AR" altLang="es-AR"/>
              <a:t>Versión 1.3 - 27/05/2014</a:t>
            </a:r>
          </a:p>
        </p:txBody>
      </p:sp>
      <p:sp>
        <p:nvSpPr>
          <p:cNvPr id="5" name="Marcador de número de diapositiva 5">
            <a:extLst>
              <a:ext uri="{FF2B5EF4-FFF2-40B4-BE49-F238E27FC236}">
                <a16:creationId xmlns:a16="http://schemas.microsoft.com/office/drawing/2014/main" id="{32FF3372-B198-258D-0E6A-30B779B558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500" u="sng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1500" u="sng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1500" u="sng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1500" u="sng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1500" u="sng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500" u="sng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500" u="sng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500" u="sng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500" u="sng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F279A1CE-AC32-4FD1-82C4-AE72DA7FAD26}" type="slidenum">
              <a:rPr lang="es-AR" altLang="es-AR" sz="2800">
                <a:solidFill>
                  <a:srgbClr val="FFFFFF"/>
                </a:solidFill>
              </a:rPr>
              <a:pPr/>
              <a:t>23</a:t>
            </a:fld>
            <a:endParaRPr lang="es-AR" altLang="es-AR" sz="2800">
              <a:solidFill>
                <a:srgbClr val="FFFFFF"/>
              </a:solidFill>
            </a:endParaRPr>
          </a:p>
        </p:txBody>
      </p:sp>
      <p:graphicFrame>
        <p:nvGraphicFramePr>
          <p:cNvPr id="30725" name="Object 4">
            <a:extLst>
              <a:ext uri="{FF2B5EF4-FFF2-40B4-BE49-F238E27FC236}">
                <a16:creationId xmlns:a16="http://schemas.microsoft.com/office/drawing/2014/main" id="{2F5B55A3-595D-606A-15DC-1B822EC023B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143000" y="1524000"/>
          <a:ext cx="6781800" cy="5159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6203980" imgH="4721024" progId="Visio.Drawing.5">
                  <p:embed/>
                </p:oleObj>
              </mc:Choice>
              <mc:Fallback>
                <p:oleObj name="VISIO" r:id="rId2" imgW="6203980" imgH="4721024" progId="Visio.Drawing.5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3000" y="1524000"/>
                        <a:ext cx="6781800" cy="5159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5">
            <a:extLst>
              <a:ext uri="{FF2B5EF4-FFF2-40B4-BE49-F238E27FC236}">
                <a16:creationId xmlns:a16="http://schemas.microsoft.com/office/drawing/2014/main" id="{4157A7F2-8B1E-8B93-4CC3-CF273BA7009E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s-ES_tradnl" altLang="es-AR"/>
              <a:t>Sugiere un mayor grado de solapamiento</a:t>
            </a:r>
          </a:p>
          <a:p>
            <a:pPr eaLnBrk="1" hangingPunct="1"/>
            <a:r>
              <a:rPr lang="es-ES_tradnl" altLang="es-AR"/>
              <a:t>Es una aproximación razonable para muchos proyectos</a:t>
            </a:r>
          </a:p>
          <a:p>
            <a:pPr eaLnBrk="1" hangingPunct="1"/>
            <a:r>
              <a:rPr lang="es-ES_tradnl" altLang="es-AR"/>
              <a:t>Los hitos son mas ambiguos y hace difícil trazar el progreso</a:t>
            </a:r>
          </a:p>
        </p:txBody>
      </p:sp>
      <p:sp>
        <p:nvSpPr>
          <p:cNvPr id="3" name="Marcador de pie de página 4">
            <a:extLst>
              <a:ext uri="{FF2B5EF4-FFF2-40B4-BE49-F238E27FC236}">
                <a16:creationId xmlns:a16="http://schemas.microsoft.com/office/drawing/2014/main" id="{6EF843B1-6D12-48BD-9373-86106DA06D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5400000">
            <a:off x="6233335" y="3263371"/>
            <a:ext cx="3859795" cy="228660"/>
          </a:xfrm>
        </p:spPr>
        <p:txBody>
          <a:bodyPr/>
          <a:lstStyle/>
          <a:p>
            <a:pPr>
              <a:defRPr/>
            </a:pPr>
            <a:r>
              <a:rPr lang="es-AR" altLang="es-AR"/>
              <a:t>Versión 1.3 - 27/05/2014</a:t>
            </a:r>
          </a:p>
        </p:txBody>
      </p:sp>
      <p:sp>
        <p:nvSpPr>
          <p:cNvPr id="4" name="Marcador de número de diapositiva 5">
            <a:extLst>
              <a:ext uri="{FF2B5EF4-FFF2-40B4-BE49-F238E27FC236}">
                <a16:creationId xmlns:a16="http://schemas.microsoft.com/office/drawing/2014/main" id="{C3E9A327-2D7D-526B-94F5-B99E516E20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500" u="sng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1500" u="sng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1500" u="sng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1500" u="sng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1500" u="sng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500" u="sng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500" u="sng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500" u="sng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500" u="sng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99174DE2-A7FD-45B8-A27D-3118907F3FC2}" type="slidenum">
              <a:rPr lang="es-AR" altLang="es-AR" sz="2800">
                <a:solidFill>
                  <a:srgbClr val="FFFFFF"/>
                </a:solidFill>
              </a:rPr>
              <a:pPr/>
              <a:t>24</a:t>
            </a:fld>
            <a:endParaRPr lang="es-AR" altLang="es-AR" sz="2800">
              <a:solidFill>
                <a:srgbClr val="FFFFFF"/>
              </a:solidFill>
            </a:endParaRPr>
          </a:p>
        </p:txBody>
      </p:sp>
    </p:spTree>
  </p:cSld>
  <p:clrMapOvr>
    <a:masterClrMapping/>
  </p:clrMapOvr>
  <p:transition spd="slow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>
            <a:extLst>
              <a:ext uri="{FF2B5EF4-FFF2-40B4-BE49-F238E27FC236}">
                <a16:creationId xmlns:a16="http://schemas.microsoft.com/office/drawing/2014/main" id="{0CF0AD3C-6C62-33EB-C53B-01362142D32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s-ES_tradnl" altLang="es-AR"/>
              <a:t>Cascada con subproyectos</a:t>
            </a:r>
          </a:p>
        </p:txBody>
      </p:sp>
      <p:sp>
        <p:nvSpPr>
          <p:cNvPr id="4" name="Marcador de pie de página 4">
            <a:extLst>
              <a:ext uri="{FF2B5EF4-FFF2-40B4-BE49-F238E27FC236}">
                <a16:creationId xmlns:a16="http://schemas.microsoft.com/office/drawing/2014/main" id="{AA061FE8-CE9D-7B69-D6C0-8C2B876106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5400000">
            <a:off x="6233335" y="3263371"/>
            <a:ext cx="3859795" cy="228660"/>
          </a:xfrm>
        </p:spPr>
        <p:txBody>
          <a:bodyPr/>
          <a:lstStyle/>
          <a:p>
            <a:pPr>
              <a:defRPr/>
            </a:pPr>
            <a:r>
              <a:rPr lang="es-AR" altLang="es-AR"/>
              <a:t>Versión 1.3 - 27/05/2014</a:t>
            </a:r>
          </a:p>
        </p:txBody>
      </p:sp>
      <p:sp>
        <p:nvSpPr>
          <p:cNvPr id="5" name="Marcador de número de diapositiva 5">
            <a:extLst>
              <a:ext uri="{FF2B5EF4-FFF2-40B4-BE49-F238E27FC236}">
                <a16:creationId xmlns:a16="http://schemas.microsoft.com/office/drawing/2014/main" id="{61845303-590C-CDE9-2154-744762301F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500" u="sng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1500" u="sng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1500" u="sng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1500" u="sng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1500" u="sng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500" u="sng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500" u="sng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500" u="sng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500" u="sng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086583D6-5E46-4612-B6B8-A156F9AB316A}" type="slidenum">
              <a:rPr lang="es-AR" altLang="es-AR" sz="2800">
                <a:solidFill>
                  <a:srgbClr val="FFFFFF"/>
                </a:solidFill>
              </a:rPr>
              <a:pPr/>
              <a:t>25</a:t>
            </a:fld>
            <a:endParaRPr lang="es-AR" altLang="es-AR" sz="2800">
              <a:solidFill>
                <a:srgbClr val="FFFFFF"/>
              </a:solidFill>
            </a:endParaRPr>
          </a:p>
        </p:txBody>
      </p:sp>
      <p:graphicFrame>
        <p:nvGraphicFramePr>
          <p:cNvPr id="32773" name="Object 4">
            <a:extLst>
              <a:ext uri="{FF2B5EF4-FFF2-40B4-BE49-F238E27FC236}">
                <a16:creationId xmlns:a16="http://schemas.microsoft.com/office/drawing/2014/main" id="{F1B140E7-7978-D0EB-463B-A323A10C852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143000" y="1600200"/>
          <a:ext cx="7372350" cy="5067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7369732" imgH="5065371" progId="Visio.Drawing.5">
                  <p:embed/>
                </p:oleObj>
              </mc:Choice>
              <mc:Fallback>
                <p:oleObj name="VISIO" r:id="rId2" imgW="7369732" imgH="5065371" progId="Visio.Drawing.5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3000" y="1600200"/>
                        <a:ext cx="7372350" cy="5067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>
            <a:extLst>
              <a:ext uri="{FF2B5EF4-FFF2-40B4-BE49-F238E27FC236}">
                <a16:creationId xmlns:a16="http://schemas.microsoft.com/office/drawing/2014/main" id="{2BD5E510-58CE-ACA9-8B35-4EA572284D2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es-ES_tradnl" altLang="es-AR"/>
          </a:p>
        </p:txBody>
      </p:sp>
      <p:sp>
        <p:nvSpPr>
          <p:cNvPr id="33795" name="Rectangle 3">
            <a:extLst>
              <a:ext uri="{FF2B5EF4-FFF2-40B4-BE49-F238E27FC236}">
                <a16:creationId xmlns:a16="http://schemas.microsoft.com/office/drawing/2014/main" id="{EBA39F48-BC5D-CFE1-FE8D-50CE0A75F439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s-ES_tradnl" altLang="es-AR"/>
              <a:t>Util en desarrollo con partes conocidas e implementadas con anterioridad</a:t>
            </a:r>
          </a:p>
          <a:p>
            <a:pPr eaLnBrk="1" hangingPunct="1"/>
            <a:r>
              <a:rPr lang="es-ES_tradnl" altLang="es-AR"/>
              <a:t>Útil para dividir el proyecto en partes que la desarrollen grupos distintos</a:t>
            </a:r>
          </a:p>
        </p:txBody>
      </p:sp>
      <p:sp>
        <p:nvSpPr>
          <p:cNvPr id="4" name="Marcador de pie de página 4">
            <a:extLst>
              <a:ext uri="{FF2B5EF4-FFF2-40B4-BE49-F238E27FC236}">
                <a16:creationId xmlns:a16="http://schemas.microsoft.com/office/drawing/2014/main" id="{9CA94570-7E54-5318-ED4A-1BB716AAB2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5400000">
            <a:off x="6233335" y="3263371"/>
            <a:ext cx="3859795" cy="228660"/>
          </a:xfrm>
        </p:spPr>
        <p:txBody>
          <a:bodyPr/>
          <a:lstStyle/>
          <a:p>
            <a:pPr>
              <a:defRPr/>
            </a:pPr>
            <a:r>
              <a:rPr lang="es-AR" altLang="es-AR"/>
              <a:t>Versión 1.3 - 27/05/2014</a:t>
            </a:r>
          </a:p>
        </p:txBody>
      </p:sp>
      <p:sp>
        <p:nvSpPr>
          <p:cNvPr id="5" name="Marcador de número de diapositiva 5">
            <a:extLst>
              <a:ext uri="{FF2B5EF4-FFF2-40B4-BE49-F238E27FC236}">
                <a16:creationId xmlns:a16="http://schemas.microsoft.com/office/drawing/2014/main" id="{303F89C8-4530-2061-C383-7CB7FDED4F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500" u="sng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1500" u="sng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1500" u="sng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1500" u="sng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1500" u="sng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500" u="sng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500" u="sng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500" u="sng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500" u="sng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77369FCF-88C2-47BB-91F6-0291ABB29BC2}" type="slidenum">
              <a:rPr lang="es-AR" altLang="es-AR" sz="2800">
                <a:solidFill>
                  <a:srgbClr val="FFFFFF"/>
                </a:solidFill>
              </a:rPr>
              <a:pPr/>
              <a:t>26</a:t>
            </a:fld>
            <a:endParaRPr lang="es-AR" altLang="es-AR" sz="2800">
              <a:solidFill>
                <a:srgbClr val="FFFFFF"/>
              </a:solidFill>
            </a:endParaRPr>
          </a:p>
        </p:txBody>
      </p:sp>
    </p:spTree>
  </p:cSld>
  <p:clrMapOvr>
    <a:masterClrMapping/>
  </p:clrMapOvr>
  <p:transition spd="slow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>
            <a:extLst>
              <a:ext uri="{FF2B5EF4-FFF2-40B4-BE49-F238E27FC236}">
                <a16:creationId xmlns:a16="http://schemas.microsoft.com/office/drawing/2014/main" id="{A36AB40E-5D06-EC67-9FE0-7E5508281BD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s-ES_tradnl" altLang="es-AR">
                <a:solidFill>
                  <a:schemeClr val="bg2"/>
                </a:solidFill>
              </a:rPr>
              <a:t>Prototipado evolutivo</a:t>
            </a:r>
          </a:p>
        </p:txBody>
      </p:sp>
      <p:sp>
        <p:nvSpPr>
          <p:cNvPr id="4" name="Marcador de pie de página 4">
            <a:extLst>
              <a:ext uri="{FF2B5EF4-FFF2-40B4-BE49-F238E27FC236}">
                <a16:creationId xmlns:a16="http://schemas.microsoft.com/office/drawing/2014/main" id="{06FCB0D7-FB57-267E-289A-6C27D9AB4A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5400000">
            <a:off x="6233335" y="3263371"/>
            <a:ext cx="3859795" cy="228660"/>
          </a:xfrm>
        </p:spPr>
        <p:txBody>
          <a:bodyPr/>
          <a:lstStyle/>
          <a:p>
            <a:pPr>
              <a:defRPr/>
            </a:pPr>
            <a:r>
              <a:rPr lang="es-AR" altLang="es-AR"/>
              <a:t>Versión 1.3 - 27/05/2014</a:t>
            </a:r>
          </a:p>
        </p:txBody>
      </p:sp>
      <p:sp>
        <p:nvSpPr>
          <p:cNvPr id="5" name="Marcador de número de diapositiva 5">
            <a:extLst>
              <a:ext uri="{FF2B5EF4-FFF2-40B4-BE49-F238E27FC236}">
                <a16:creationId xmlns:a16="http://schemas.microsoft.com/office/drawing/2014/main" id="{49FB87FE-5D3E-CE9E-FFE5-37ED37B5D4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500" u="sng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1500" u="sng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1500" u="sng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1500" u="sng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1500" u="sng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500" u="sng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500" u="sng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500" u="sng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500" u="sng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0164CC95-CB50-463F-A4DC-8918E89EF146}" type="slidenum">
              <a:rPr lang="es-AR" altLang="es-AR" sz="2800">
                <a:solidFill>
                  <a:srgbClr val="FFFFFF"/>
                </a:solidFill>
              </a:rPr>
              <a:pPr/>
              <a:t>27</a:t>
            </a:fld>
            <a:endParaRPr lang="es-AR" altLang="es-AR" sz="2800">
              <a:solidFill>
                <a:srgbClr val="FFFFFF"/>
              </a:solidFill>
            </a:endParaRPr>
          </a:p>
        </p:txBody>
      </p:sp>
      <p:pic>
        <p:nvPicPr>
          <p:cNvPr id="34821" name="Picture 4" descr="protipado evolutivo">
            <a:extLst>
              <a:ext uri="{FF2B5EF4-FFF2-40B4-BE49-F238E27FC236}">
                <a16:creationId xmlns:a16="http://schemas.microsoft.com/office/drawing/2014/main" id="{06C39925-0261-5CCC-2D67-A05A8747AA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2057400"/>
            <a:ext cx="8229600" cy="2914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>
            <a:extLst>
              <a:ext uri="{FF2B5EF4-FFF2-40B4-BE49-F238E27FC236}">
                <a16:creationId xmlns:a16="http://schemas.microsoft.com/office/drawing/2014/main" id="{04AC2CC5-B348-2F32-869C-C70C5C739A4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es-ES_tradnl" altLang="es-AR"/>
          </a:p>
        </p:txBody>
      </p:sp>
      <p:sp>
        <p:nvSpPr>
          <p:cNvPr id="189443" name="Rectangle 3">
            <a:extLst>
              <a:ext uri="{FF2B5EF4-FFF2-40B4-BE49-F238E27FC236}">
                <a16:creationId xmlns:a16="http://schemas.microsoft.com/office/drawing/2014/main" id="{81575F72-F9D2-62B5-E871-A978CDDF1E5D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 rtlCol="0">
            <a:normAutofit fontScale="92500" lnSpcReduction="10000"/>
          </a:bodyPr>
          <a:lstStyle/>
          <a:p>
            <a:pPr marL="342906" indent="-342906" defTabSz="457207" eaLnBrk="1" fontAlgn="auto" hangingPunct="1"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Font typeface="Wingdings 3" charset="2"/>
              <a:buChar char=""/>
              <a:defRPr/>
            </a:pPr>
            <a:r>
              <a:rPr lang="es-ES_tradnl" altLang="es-AR" sz="2600"/>
              <a:t>Lo mas dificultoso es la determinación de los req. En un proyecto y es el componente mas difícil de corregir</a:t>
            </a:r>
          </a:p>
          <a:p>
            <a:pPr marL="342906" indent="-342906" defTabSz="457207" eaLnBrk="1" fontAlgn="auto" hangingPunct="1"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Font typeface="Wingdings 3" charset="2"/>
              <a:buChar char=""/>
              <a:defRPr/>
            </a:pPr>
            <a:r>
              <a:rPr lang="es-ES_tradnl" altLang="es-AR" sz="2600"/>
              <a:t>El sistema se desarrolla en incrementos</a:t>
            </a:r>
          </a:p>
          <a:p>
            <a:pPr marL="342906" indent="-342906" defTabSz="457207" eaLnBrk="1" fontAlgn="auto" hangingPunct="1"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Font typeface="Wingdings 3" charset="2"/>
              <a:buChar char=""/>
              <a:defRPr/>
            </a:pPr>
            <a:r>
              <a:rPr lang="es-ES_tradnl" altLang="es-AR" sz="2600"/>
              <a:t>Comienza con el prototipo de interfaz de usuario o cualquier área de alto riesgo.</a:t>
            </a:r>
          </a:p>
          <a:p>
            <a:pPr marL="342906" indent="-342906" defTabSz="457207" eaLnBrk="1" fontAlgn="auto" hangingPunct="1"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Font typeface="Wingdings 3" charset="2"/>
              <a:buChar char=""/>
              <a:defRPr/>
            </a:pPr>
            <a:r>
              <a:rPr lang="es-ES_tradnl" altLang="es-AR" sz="2600"/>
              <a:t>Apoya el desarrollo rápido controlando pronto los riesgos.</a:t>
            </a:r>
          </a:p>
          <a:p>
            <a:pPr marL="342906" indent="-342906" defTabSz="457207" eaLnBrk="1" fontAlgn="auto" hangingPunct="1"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Font typeface="Wingdings 3" charset="2"/>
              <a:buChar char=""/>
              <a:defRPr/>
            </a:pPr>
            <a:r>
              <a:rPr lang="es-ES_tradnl" altLang="es-AR" sz="2600"/>
              <a:t>Similar a ir a hacer las compras sin un listado de cosas a comprar</a:t>
            </a:r>
          </a:p>
        </p:txBody>
      </p:sp>
      <p:sp>
        <p:nvSpPr>
          <p:cNvPr id="4" name="Marcador de pie de página 4">
            <a:extLst>
              <a:ext uri="{FF2B5EF4-FFF2-40B4-BE49-F238E27FC236}">
                <a16:creationId xmlns:a16="http://schemas.microsoft.com/office/drawing/2014/main" id="{1942AD61-8198-7FC3-FD84-99B55F0658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5400000">
            <a:off x="6233335" y="3263371"/>
            <a:ext cx="3859795" cy="228660"/>
          </a:xfrm>
        </p:spPr>
        <p:txBody>
          <a:bodyPr/>
          <a:lstStyle/>
          <a:p>
            <a:pPr>
              <a:defRPr/>
            </a:pPr>
            <a:r>
              <a:rPr lang="es-AR" altLang="es-AR"/>
              <a:t>Versión 1.3 - 27/05/2014</a:t>
            </a:r>
          </a:p>
        </p:txBody>
      </p:sp>
      <p:sp>
        <p:nvSpPr>
          <p:cNvPr id="5" name="Marcador de número de diapositiva 5">
            <a:extLst>
              <a:ext uri="{FF2B5EF4-FFF2-40B4-BE49-F238E27FC236}">
                <a16:creationId xmlns:a16="http://schemas.microsoft.com/office/drawing/2014/main" id="{02B3947E-D8B5-247F-DA86-60B29722D5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500" u="sng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1500" u="sng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1500" u="sng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1500" u="sng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1500" u="sng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500" u="sng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500" u="sng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500" u="sng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500" u="sng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CDA626E6-FD15-40A3-8777-6952CE83DD6F}" type="slidenum">
              <a:rPr lang="es-AR" altLang="es-AR" sz="2800">
                <a:solidFill>
                  <a:srgbClr val="FFFFFF"/>
                </a:solidFill>
              </a:rPr>
              <a:pPr/>
              <a:t>28</a:t>
            </a:fld>
            <a:endParaRPr lang="es-AR" altLang="es-AR" sz="2800">
              <a:solidFill>
                <a:srgbClr val="FFFFFF"/>
              </a:solidFill>
            </a:endParaRPr>
          </a:p>
        </p:txBody>
      </p:sp>
    </p:spTree>
  </p:cSld>
  <p:clrMapOvr>
    <a:masterClrMapping/>
  </p:clrMapOvr>
  <p:transition spd="slow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>
            <a:extLst>
              <a:ext uri="{FF2B5EF4-FFF2-40B4-BE49-F238E27FC236}">
                <a16:creationId xmlns:a16="http://schemas.microsoft.com/office/drawing/2014/main" id="{C196C1CE-506D-E3F0-5696-AF0EC6D956C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s-ES_tradnl" altLang="es-AR"/>
              <a:t>Ventajas</a:t>
            </a:r>
          </a:p>
        </p:txBody>
      </p:sp>
      <p:sp>
        <p:nvSpPr>
          <p:cNvPr id="210947" name="Rectangle 3">
            <a:extLst>
              <a:ext uri="{FF2B5EF4-FFF2-40B4-BE49-F238E27FC236}">
                <a16:creationId xmlns:a16="http://schemas.microsoft.com/office/drawing/2014/main" id="{AAECD5A2-1C09-454F-739D-131AAE62902A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 rtlCol="0">
            <a:normAutofit lnSpcReduction="10000"/>
          </a:bodyPr>
          <a:lstStyle/>
          <a:p>
            <a:pPr marL="342906" indent="-342906" defTabSz="457207" eaLnBrk="1" fontAlgn="auto" hangingPunct="1"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Font typeface="Wingdings 3" charset="2"/>
              <a:buChar char=""/>
              <a:defRPr/>
            </a:pPr>
            <a:r>
              <a:rPr lang="es-ES_tradnl" altLang="es-AR" sz="2600"/>
              <a:t>El usuario puede “ver” el sistema</a:t>
            </a:r>
          </a:p>
          <a:p>
            <a:pPr marL="342906" indent="-342906" defTabSz="457207" eaLnBrk="1" fontAlgn="auto" hangingPunct="1"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Font typeface="Wingdings 3" charset="2"/>
              <a:buChar char=""/>
              <a:defRPr/>
            </a:pPr>
            <a:r>
              <a:rPr lang="es-ES_tradnl" altLang="es-AR" sz="2600"/>
              <a:t>Los desarrolladores aprenden de las opiniones del usuario</a:t>
            </a:r>
          </a:p>
          <a:p>
            <a:pPr marL="342906" indent="-342906" defTabSz="457207" eaLnBrk="1" fontAlgn="auto" hangingPunct="1"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Font typeface="Wingdings 3" charset="2"/>
              <a:buChar char=""/>
              <a:defRPr/>
            </a:pPr>
            <a:r>
              <a:rPr lang="es-ES_tradnl" altLang="es-AR" sz="2600"/>
              <a:t>Se minimizan los malos entendidos</a:t>
            </a:r>
          </a:p>
          <a:p>
            <a:pPr marL="342906" indent="-342906" defTabSz="457207" eaLnBrk="1" fontAlgn="auto" hangingPunct="1"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Font typeface="Wingdings 3" charset="2"/>
              <a:buChar char=""/>
              <a:defRPr/>
            </a:pPr>
            <a:r>
              <a:rPr lang="es-ES_tradnl" altLang="es-AR" sz="2600"/>
              <a:t>Los nuevos req se pueden agregar facilmente</a:t>
            </a:r>
          </a:p>
          <a:p>
            <a:pPr marL="342906" indent="-342906" defTabSz="457207" eaLnBrk="1" fontAlgn="auto" hangingPunct="1"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Font typeface="Wingdings 3" charset="2"/>
              <a:buChar char=""/>
              <a:defRPr/>
            </a:pPr>
            <a:r>
              <a:rPr lang="es-ES_tradnl" altLang="es-AR" sz="2600"/>
              <a:t>Se involucra al usuario en el desarrollo</a:t>
            </a:r>
          </a:p>
          <a:p>
            <a:pPr marL="342906" indent="-342906" defTabSz="457207" eaLnBrk="1" fontAlgn="auto" hangingPunct="1"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Font typeface="Wingdings 3" charset="2"/>
              <a:buChar char=""/>
              <a:defRPr/>
            </a:pPr>
            <a:r>
              <a:rPr lang="es-ES_tradnl" altLang="es-AR" sz="2600"/>
              <a:t>Existe un alto control de los riesgos</a:t>
            </a:r>
          </a:p>
          <a:p>
            <a:pPr marL="342906" indent="-342906" defTabSz="457207" eaLnBrk="1" fontAlgn="auto" hangingPunct="1"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Font typeface="Wingdings 3" charset="2"/>
              <a:buChar char=""/>
              <a:defRPr/>
            </a:pPr>
            <a:r>
              <a:rPr lang="es-ES_tradnl" altLang="es-AR" sz="2600"/>
              <a:t>El costo por retrabajo es menor</a:t>
            </a:r>
          </a:p>
        </p:txBody>
      </p:sp>
      <p:sp>
        <p:nvSpPr>
          <p:cNvPr id="5" name="Marcador de número de diapositiva 5">
            <a:extLst>
              <a:ext uri="{FF2B5EF4-FFF2-40B4-BE49-F238E27FC236}">
                <a16:creationId xmlns:a16="http://schemas.microsoft.com/office/drawing/2014/main" id="{D1A99F06-AB28-3EA3-39C1-617B250890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500" u="sng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1500" u="sng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1500" u="sng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1500" u="sng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1500" u="sng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500" u="sng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500" u="sng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500" u="sng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500" u="sng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244793D3-AAD4-42F4-928F-8A6D06E46A9C}" type="slidenum">
              <a:rPr lang="es-AR" altLang="es-AR" sz="2800">
                <a:solidFill>
                  <a:srgbClr val="FFFFFF"/>
                </a:solidFill>
              </a:rPr>
              <a:pPr/>
              <a:t>29</a:t>
            </a:fld>
            <a:endParaRPr lang="es-AR" altLang="es-AR" sz="2800">
              <a:solidFill>
                <a:srgbClr val="FFFFFF"/>
              </a:solidFill>
            </a:endParaRPr>
          </a:p>
        </p:txBody>
      </p:sp>
    </p:spTree>
  </p:cSld>
  <p:clrMapOvr>
    <a:masterClrMapping/>
  </p:clrMapOvr>
  <p:transition spd="slow"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>
            <a:extLst>
              <a:ext uri="{FF2B5EF4-FFF2-40B4-BE49-F238E27FC236}">
                <a16:creationId xmlns:a16="http://schemas.microsoft.com/office/drawing/2014/main" id="{89351F41-85E0-E3E6-1169-4625365E297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s-ES_tradnl" altLang="es-AR"/>
              <a:t>Desventajas</a:t>
            </a:r>
          </a:p>
        </p:txBody>
      </p:sp>
      <p:sp>
        <p:nvSpPr>
          <p:cNvPr id="211971" name="Rectangle 3">
            <a:extLst>
              <a:ext uri="{FF2B5EF4-FFF2-40B4-BE49-F238E27FC236}">
                <a16:creationId xmlns:a16="http://schemas.microsoft.com/office/drawing/2014/main" id="{9F152594-4862-3E3A-3DFA-3A0DEE110B2C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 rtlCol="0">
            <a:normAutofit lnSpcReduction="10000"/>
          </a:bodyPr>
          <a:lstStyle/>
          <a:p>
            <a:pPr marL="342906" indent="-342906" defTabSz="457207" eaLnBrk="1" fontAlgn="auto" hangingPunct="1"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Font typeface="Wingdings 3" charset="2"/>
              <a:buChar char=""/>
              <a:defRPr/>
            </a:pPr>
            <a:r>
              <a:rPr lang="es-ES_tradnl" altLang="es-AR" sz="2600"/>
              <a:t>Se puede pasar por alto la calidad</a:t>
            </a:r>
          </a:p>
          <a:p>
            <a:pPr marL="342906" indent="-342906" defTabSz="457207" eaLnBrk="1" fontAlgn="auto" hangingPunct="1"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Font typeface="Wingdings 3" charset="2"/>
              <a:buChar char=""/>
              <a:defRPr/>
            </a:pPr>
            <a:r>
              <a:rPr lang="es-ES_tradnl" altLang="es-AR" sz="2600"/>
              <a:t>Puede producirse un sistema de bajo rendimiento</a:t>
            </a:r>
          </a:p>
          <a:p>
            <a:pPr marL="342906" indent="-342906" defTabSz="457207" eaLnBrk="1" fontAlgn="auto" hangingPunct="1"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Font typeface="Wingdings 3" charset="2"/>
              <a:buChar char=""/>
              <a:defRPr/>
            </a:pPr>
            <a:r>
              <a:rPr lang="es-ES_tradnl" altLang="es-AR" sz="2600"/>
              <a:t>Si el lenguaje de programación y prototipado no son compatibles se puede perder mucho tiempo</a:t>
            </a:r>
          </a:p>
          <a:p>
            <a:pPr marL="342906" indent="-342906" defTabSz="457207" eaLnBrk="1" fontAlgn="auto" hangingPunct="1"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Font typeface="Wingdings 3" charset="2"/>
              <a:buChar char=""/>
              <a:defRPr/>
            </a:pPr>
            <a:r>
              <a:rPr lang="es-ES_tradnl" altLang="es-AR" sz="2600"/>
              <a:t>Si no se es ordenado o se carece de un plan se puede caer en una iteración indefinida de codificar y corregir.</a:t>
            </a:r>
          </a:p>
        </p:txBody>
      </p:sp>
      <p:sp>
        <p:nvSpPr>
          <p:cNvPr id="5" name="Marcador de número de diapositiva 5">
            <a:extLst>
              <a:ext uri="{FF2B5EF4-FFF2-40B4-BE49-F238E27FC236}">
                <a16:creationId xmlns:a16="http://schemas.microsoft.com/office/drawing/2014/main" id="{9BF7345E-C800-0314-0A17-9F46F2FA6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500" u="sng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1500" u="sng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1500" u="sng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1500" u="sng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1500" u="sng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500" u="sng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500" u="sng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500" u="sng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500" u="sng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64713A15-E7F1-4F10-B4D7-E357DD65B8AA}" type="slidenum">
              <a:rPr lang="es-AR" altLang="es-AR" sz="2800">
                <a:solidFill>
                  <a:srgbClr val="FFFFFF"/>
                </a:solidFill>
              </a:rPr>
              <a:pPr/>
              <a:t>30</a:t>
            </a:fld>
            <a:endParaRPr lang="es-AR" altLang="es-AR" sz="2800">
              <a:solidFill>
                <a:srgbClr val="FFFFFF"/>
              </a:solidFill>
            </a:endParaRPr>
          </a:p>
        </p:txBody>
      </p:sp>
    </p:spTree>
  </p:cSld>
  <p:clrMapOvr>
    <a:masterClrMapping/>
  </p:clrMapOvr>
  <p:transition spd="slow"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>
            <a:extLst>
              <a:ext uri="{FF2B5EF4-FFF2-40B4-BE49-F238E27FC236}">
                <a16:creationId xmlns:a16="http://schemas.microsoft.com/office/drawing/2014/main" id="{4EFE3F33-1886-551E-F621-3E1C35D7607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es-ES_tradnl" altLang="es-AR"/>
          </a:p>
        </p:txBody>
      </p:sp>
      <p:sp>
        <p:nvSpPr>
          <p:cNvPr id="38915" name="Rectangle 3">
            <a:extLst>
              <a:ext uri="{FF2B5EF4-FFF2-40B4-BE49-F238E27FC236}">
                <a16:creationId xmlns:a16="http://schemas.microsoft.com/office/drawing/2014/main" id="{F8EE0CD5-5F25-BA16-69C8-3655636FF804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566738" y="1752600"/>
            <a:ext cx="8348662" cy="4267200"/>
          </a:xfrm>
        </p:spPr>
        <p:txBody>
          <a:bodyPr/>
          <a:lstStyle/>
          <a:p>
            <a:pPr eaLnBrk="1" hangingPunct="1"/>
            <a:r>
              <a:rPr lang="es-ES_tradnl" altLang="es-AR" sz="2600"/>
              <a:t>Eficacia</a:t>
            </a:r>
          </a:p>
          <a:p>
            <a:pPr lvl="1" eaLnBrk="1" hangingPunct="1"/>
            <a:r>
              <a:rPr lang="es-ES_tradnl" altLang="es-AR" sz="2000"/>
              <a:t>Reducción potencial de la planificación nominal (Excelente)</a:t>
            </a:r>
          </a:p>
          <a:p>
            <a:pPr lvl="1" eaLnBrk="1" hangingPunct="1"/>
            <a:r>
              <a:rPr lang="es-ES_tradnl" altLang="es-AR" sz="2000"/>
              <a:t>Mejora en la visibilidad del proyecto (Ex)</a:t>
            </a:r>
          </a:p>
          <a:p>
            <a:pPr lvl="1" eaLnBrk="1" hangingPunct="1"/>
            <a:r>
              <a:rPr lang="es-ES_tradnl" altLang="es-AR" sz="2000"/>
              <a:t>Disminuye el riesgo</a:t>
            </a:r>
          </a:p>
          <a:p>
            <a:pPr eaLnBrk="1" hangingPunct="1"/>
            <a:r>
              <a:rPr lang="es-ES_tradnl" altLang="es-AR" sz="2600"/>
              <a:t>Riesgos principales</a:t>
            </a:r>
          </a:p>
          <a:p>
            <a:pPr lvl="1" eaLnBrk="1" hangingPunct="1"/>
            <a:r>
              <a:rPr lang="es-ES_tradnl" altLang="es-AR" sz="2000"/>
              <a:t>Expectativas poco realistas.</a:t>
            </a:r>
          </a:p>
          <a:p>
            <a:pPr lvl="1" eaLnBrk="1" hangingPunct="1"/>
            <a:r>
              <a:rPr lang="es-ES_tradnl" altLang="es-AR" sz="2000"/>
              <a:t>Uso ineficiente del tiempo de prototipado</a:t>
            </a:r>
          </a:p>
          <a:p>
            <a:pPr lvl="1" eaLnBrk="1" hangingPunct="1"/>
            <a:r>
              <a:rPr lang="es-ES_tradnl" altLang="es-AR" sz="2000"/>
              <a:t>Expectativas poco realistas de rendimiento</a:t>
            </a:r>
            <a:endParaRPr lang="es-ES_tradnl" altLang="es-AR"/>
          </a:p>
        </p:txBody>
      </p:sp>
      <p:sp>
        <p:nvSpPr>
          <p:cNvPr id="5" name="Marcador de número de diapositiva 5">
            <a:extLst>
              <a:ext uri="{FF2B5EF4-FFF2-40B4-BE49-F238E27FC236}">
                <a16:creationId xmlns:a16="http://schemas.microsoft.com/office/drawing/2014/main" id="{A92266CB-91F3-76DD-8722-85781490F0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500" u="sng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1500" u="sng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1500" u="sng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1500" u="sng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1500" u="sng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500" u="sng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500" u="sng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500" u="sng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500" u="sng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40F4D762-844D-4CC9-871D-C534D9492CEF}" type="slidenum">
              <a:rPr lang="es-AR" altLang="es-AR" sz="2800">
                <a:solidFill>
                  <a:srgbClr val="FFFFFF"/>
                </a:solidFill>
              </a:rPr>
              <a:pPr/>
              <a:t>31</a:t>
            </a:fld>
            <a:endParaRPr lang="es-AR" altLang="es-AR" sz="2800">
              <a:solidFill>
                <a:srgbClr val="FFFFFF"/>
              </a:solidFill>
            </a:endParaRPr>
          </a:p>
        </p:txBody>
      </p:sp>
    </p:spTree>
  </p:cSld>
  <p:clrMapOvr>
    <a:masterClrMapping/>
  </p:clrMapOvr>
  <p:transition spd="slow"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>
            <a:extLst>
              <a:ext uri="{FF2B5EF4-FFF2-40B4-BE49-F238E27FC236}">
                <a16:creationId xmlns:a16="http://schemas.microsoft.com/office/drawing/2014/main" id="{C8E0EDEB-03F4-F276-A0BE-B2B3BCD29F4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es-ES_tradnl" altLang="es-AR"/>
          </a:p>
        </p:txBody>
      </p:sp>
      <p:sp>
        <p:nvSpPr>
          <p:cNvPr id="39939" name="Rectangle 3">
            <a:extLst>
              <a:ext uri="{FF2B5EF4-FFF2-40B4-BE49-F238E27FC236}">
                <a16:creationId xmlns:a16="http://schemas.microsoft.com/office/drawing/2014/main" id="{B035361B-D3D7-B552-4AB6-15ECEDF8BFAD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s-ES_tradnl" altLang="es-AR" sz="2600"/>
              <a:t>Riesgos principales (cont...)</a:t>
            </a:r>
          </a:p>
          <a:p>
            <a:pPr lvl="1" eaLnBrk="1" hangingPunct="1"/>
            <a:r>
              <a:rPr lang="es-ES_tradnl" altLang="es-AR" sz="2000"/>
              <a:t>Mal diseño</a:t>
            </a:r>
          </a:p>
          <a:p>
            <a:pPr lvl="1" eaLnBrk="1" hangingPunct="1"/>
            <a:r>
              <a:rPr lang="es-ES_tradnl" altLang="es-AR" sz="2000"/>
              <a:t>Dificultades para el mantenimiento.</a:t>
            </a:r>
          </a:p>
          <a:p>
            <a:pPr eaLnBrk="1" hangingPunct="1"/>
            <a:r>
              <a:rPr lang="es-ES_tradnl" altLang="es-AR" sz="2600"/>
              <a:t>Claves para el éxito</a:t>
            </a:r>
          </a:p>
          <a:p>
            <a:pPr lvl="1" eaLnBrk="1" hangingPunct="1"/>
            <a:r>
              <a:rPr lang="es-ES_tradnl" altLang="es-AR" sz="2000"/>
              <a:t>Desechar o mantener el prototipo.</a:t>
            </a:r>
          </a:p>
          <a:p>
            <a:pPr lvl="1" eaLnBrk="1" hangingPunct="1"/>
            <a:r>
              <a:rPr lang="es-ES_tradnl" altLang="es-AR" sz="2000"/>
              <a:t>Limitar la interacción del usuario.</a:t>
            </a:r>
          </a:p>
          <a:p>
            <a:pPr lvl="1" eaLnBrk="1" hangingPunct="1"/>
            <a:r>
              <a:rPr lang="es-ES_tradnl" altLang="es-AR" sz="2000"/>
              <a:t>Desarrolladores experimentados</a:t>
            </a:r>
          </a:p>
          <a:p>
            <a:pPr lvl="1" eaLnBrk="1" hangingPunct="1"/>
            <a:r>
              <a:rPr lang="es-ES_tradnl" altLang="es-AR" sz="2000"/>
              <a:t>Listas de comprobaciones de diseño y calidad de código</a:t>
            </a:r>
          </a:p>
        </p:txBody>
      </p:sp>
      <p:sp>
        <p:nvSpPr>
          <p:cNvPr id="5" name="Marcador de número de diapositiva 5">
            <a:extLst>
              <a:ext uri="{FF2B5EF4-FFF2-40B4-BE49-F238E27FC236}">
                <a16:creationId xmlns:a16="http://schemas.microsoft.com/office/drawing/2014/main" id="{84E6BE28-E2F3-A150-C54B-9D25CA5164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500" u="sng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1500" u="sng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1500" u="sng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1500" u="sng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1500" u="sng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500" u="sng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500" u="sng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500" u="sng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500" u="sng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B6D045C7-36FE-413A-A713-BF3AEC8FDC11}" type="slidenum">
              <a:rPr lang="es-AR" altLang="es-AR" sz="2800">
                <a:solidFill>
                  <a:srgbClr val="FFFFFF"/>
                </a:solidFill>
              </a:rPr>
              <a:pPr/>
              <a:t>32</a:t>
            </a:fld>
            <a:endParaRPr lang="es-AR" altLang="es-AR" sz="2800">
              <a:solidFill>
                <a:srgbClr val="FFFFFF"/>
              </a:solidFill>
            </a:endParaRPr>
          </a:p>
        </p:txBody>
      </p:sp>
    </p:spTree>
  </p:cSld>
  <p:clrMapOvr>
    <a:masterClrMapping/>
  </p:clrMapOvr>
  <p:transition spd="slow"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>
            <a:extLst>
              <a:ext uri="{FF2B5EF4-FFF2-40B4-BE49-F238E27FC236}">
                <a16:creationId xmlns:a16="http://schemas.microsoft.com/office/drawing/2014/main" id="{4297A923-2BF1-3297-E614-A57B4BE0E7C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s-ES_tradnl" altLang="es-AR"/>
              <a:t>Entrega por etapas</a:t>
            </a:r>
          </a:p>
        </p:txBody>
      </p:sp>
      <p:sp>
        <p:nvSpPr>
          <p:cNvPr id="5" name="Marcador de número de diapositiva 5">
            <a:extLst>
              <a:ext uri="{FF2B5EF4-FFF2-40B4-BE49-F238E27FC236}">
                <a16:creationId xmlns:a16="http://schemas.microsoft.com/office/drawing/2014/main" id="{4E0014DD-CEE7-1764-1B70-A4890BBE16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500" u="sng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1500" u="sng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1500" u="sng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1500" u="sng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1500" u="sng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500" u="sng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500" u="sng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500" u="sng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500" u="sng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A89A95B2-AAEB-439F-B88B-D9823C3D1BDB}" type="slidenum">
              <a:rPr lang="es-AR" altLang="es-AR" sz="2800">
                <a:solidFill>
                  <a:srgbClr val="FFFFFF"/>
                </a:solidFill>
              </a:rPr>
              <a:pPr/>
              <a:t>33</a:t>
            </a:fld>
            <a:endParaRPr lang="es-AR" altLang="es-AR" sz="2800">
              <a:solidFill>
                <a:srgbClr val="FFFFFF"/>
              </a:solidFill>
            </a:endParaRPr>
          </a:p>
        </p:txBody>
      </p:sp>
      <p:graphicFrame>
        <p:nvGraphicFramePr>
          <p:cNvPr id="40964" name="Object 4">
            <a:extLst>
              <a:ext uri="{FF2B5EF4-FFF2-40B4-BE49-F238E27FC236}">
                <a16:creationId xmlns:a16="http://schemas.microsoft.com/office/drawing/2014/main" id="{2D03B521-B3A3-21A8-C8F5-4E682CDEEE3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143000" y="1600200"/>
          <a:ext cx="7467600" cy="472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7465433" imgH="4721024" progId="Visio.Drawing.5">
                  <p:embed/>
                </p:oleObj>
              </mc:Choice>
              <mc:Fallback>
                <p:oleObj name="VISIO" r:id="rId2" imgW="7465433" imgH="4721024" progId="Visio.Drawing.5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3000" y="1600200"/>
                        <a:ext cx="7467600" cy="472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>
            <a:extLst>
              <a:ext uri="{FF2B5EF4-FFF2-40B4-BE49-F238E27FC236}">
                <a16:creationId xmlns:a16="http://schemas.microsoft.com/office/drawing/2014/main" id="{2F101361-7D35-7204-F804-C7CABECE96D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es-ES_tradnl" altLang="es-AR"/>
          </a:p>
        </p:txBody>
      </p:sp>
      <p:sp>
        <p:nvSpPr>
          <p:cNvPr id="41987" name="Rectangle 3">
            <a:extLst>
              <a:ext uri="{FF2B5EF4-FFF2-40B4-BE49-F238E27FC236}">
                <a16:creationId xmlns:a16="http://schemas.microsoft.com/office/drawing/2014/main" id="{97289274-1177-59BB-7793-8E44FC873222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566738" y="1752600"/>
            <a:ext cx="8577262" cy="4267200"/>
          </a:xfrm>
        </p:spPr>
        <p:txBody>
          <a:bodyPr/>
          <a:lstStyle/>
          <a:p>
            <a:pPr eaLnBrk="1" hangingPunct="1"/>
            <a:r>
              <a:rPr lang="es-ES_tradnl" altLang="es-AR"/>
              <a:t>Se desarrollan las capacidades mas importantes al principio.</a:t>
            </a:r>
          </a:p>
          <a:p>
            <a:pPr eaLnBrk="1" hangingPunct="1"/>
            <a:r>
              <a:rPr lang="es-ES_tradnl" altLang="es-AR"/>
              <a:t>Proporciona signos visibles de progreso.</a:t>
            </a:r>
          </a:p>
          <a:p>
            <a:pPr eaLnBrk="1" hangingPunct="1"/>
            <a:r>
              <a:rPr lang="es-ES_tradnl" altLang="es-AR"/>
              <a:t>En cada etapa se tiene un producto.</a:t>
            </a:r>
          </a:p>
          <a:p>
            <a:pPr eaLnBrk="1" hangingPunct="1"/>
            <a:r>
              <a:rPr lang="es-ES_tradnl" altLang="es-AR"/>
              <a:t>Se comienza con una idea clara.</a:t>
            </a:r>
          </a:p>
          <a:p>
            <a:pPr eaLnBrk="1" hangingPunct="1"/>
            <a:r>
              <a:rPr lang="es-ES_tradnl" altLang="es-AR"/>
              <a:t>Funciona mejor para sistemas que se conocen bien</a:t>
            </a:r>
          </a:p>
          <a:p>
            <a:pPr eaLnBrk="1" hangingPunct="1"/>
            <a:r>
              <a:rPr lang="es-ES_tradnl" altLang="es-AR"/>
              <a:t>Es similar a ir de compras con una lista.</a:t>
            </a:r>
          </a:p>
        </p:txBody>
      </p:sp>
      <p:sp>
        <p:nvSpPr>
          <p:cNvPr id="5" name="Marcador de número de diapositiva 5">
            <a:extLst>
              <a:ext uri="{FF2B5EF4-FFF2-40B4-BE49-F238E27FC236}">
                <a16:creationId xmlns:a16="http://schemas.microsoft.com/office/drawing/2014/main" id="{EA6AA614-ACB7-70E7-9B9B-6155336818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500" u="sng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1500" u="sng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1500" u="sng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1500" u="sng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1500" u="sng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500" u="sng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500" u="sng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500" u="sng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500" u="sng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1D793708-9600-4CCD-99EE-DA82E3D345AE}" type="slidenum">
              <a:rPr lang="es-AR" altLang="es-AR" sz="2800">
                <a:solidFill>
                  <a:srgbClr val="FFFFFF"/>
                </a:solidFill>
              </a:rPr>
              <a:pPr/>
              <a:t>34</a:t>
            </a:fld>
            <a:endParaRPr lang="es-AR" altLang="es-AR" sz="2800">
              <a:solidFill>
                <a:srgbClr val="FFFFFF"/>
              </a:solidFill>
            </a:endParaRPr>
          </a:p>
        </p:txBody>
      </p:sp>
    </p:spTree>
  </p:cSld>
  <p:clrMapOvr>
    <a:masterClrMapping/>
  </p:clrMapOvr>
  <p:transition spd="slow"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>
            <a:extLst>
              <a:ext uri="{FF2B5EF4-FFF2-40B4-BE49-F238E27FC236}">
                <a16:creationId xmlns:a16="http://schemas.microsoft.com/office/drawing/2014/main" id="{C35379CF-3481-7702-D281-0B4C4713E3D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s-ES_tradnl" altLang="es-AR"/>
              <a:t>Ventajas</a:t>
            </a:r>
          </a:p>
        </p:txBody>
      </p:sp>
      <p:sp>
        <p:nvSpPr>
          <p:cNvPr id="43011" name="Rectangle 3">
            <a:extLst>
              <a:ext uri="{FF2B5EF4-FFF2-40B4-BE49-F238E27FC236}">
                <a16:creationId xmlns:a16="http://schemas.microsoft.com/office/drawing/2014/main" id="{7F2DD76A-2F1C-E76F-606F-A702D428FEB8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566738" y="1752600"/>
            <a:ext cx="8577262" cy="4267200"/>
          </a:xfrm>
        </p:spPr>
        <p:txBody>
          <a:bodyPr/>
          <a:lstStyle/>
          <a:p>
            <a:pPr eaLnBrk="1" hangingPunct="1"/>
            <a:r>
              <a:rPr lang="es-ES_tradnl" altLang="es-AR" sz="2600"/>
              <a:t>Se entrega un nuevo producto en cada incremento</a:t>
            </a:r>
          </a:p>
          <a:p>
            <a:pPr eaLnBrk="1" hangingPunct="1"/>
            <a:r>
              <a:rPr lang="es-ES_tradnl" altLang="es-AR" sz="2600"/>
              <a:t>Las lecciones al final de cada entrega se puede utilizar en el siguiente incremento</a:t>
            </a:r>
          </a:p>
          <a:p>
            <a:pPr eaLnBrk="1" hangingPunct="1"/>
            <a:r>
              <a:rPr lang="es-ES_tradnl" altLang="es-AR" sz="2600"/>
              <a:t>Los costos y el calendario se pueden revisar al final de cada etapa</a:t>
            </a:r>
          </a:p>
          <a:p>
            <a:pPr eaLnBrk="1" hangingPunct="1"/>
            <a:r>
              <a:rPr lang="es-ES_tradnl" altLang="es-AR" sz="2600"/>
              <a:t>Los riesgos se diseminan a lo largo de cada iteración</a:t>
            </a:r>
          </a:p>
          <a:p>
            <a:pPr eaLnBrk="1" hangingPunct="1"/>
            <a:r>
              <a:rPr lang="es-ES_tradnl" altLang="es-AR" sz="2600"/>
              <a:t>Los riegos por cambios en los req se disminuyen</a:t>
            </a:r>
          </a:p>
        </p:txBody>
      </p:sp>
      <p:sp>
        <p:nvSpPr>
          <p:cNvPr id="5" name="Marcador de número de diapositiva 5">
            <a:extLst>
              <a:ext uri="{FF2B5EF4-FFF2-40B4-BE49-F238E27FC236}">
                <a16:creationId xmlns:a16="http://schemas.microsoft.com/office/drawing/2014/main" id="{8919AC0A-2D5B-299E-4980-8CDFD69E10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500" u="sng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1500" u="sng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1500" u="sng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1500" u="sng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1500" u="sng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500" u="sng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500" u="sng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500" u="sng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500" u="sng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BE201B1C-2CAA-4505-A12A-696D0B2930CF}" type="slidenum">
              <a:rPr lang="es-AR" altLang="es-AR" sz="2800">
                <a:solidFill>
                  <a:srgbClr val="FFFFFF"/>
                </a:solidFill>
              </a:rPr>
              <a:pPr/>
              <a:t>35</a:t>
            </a:fld>
            <a:endParaRPr lang="es-AR" altLang="es-AR" sz="2800">
              <a:solidFill>
                <a:srgbClr val="FFFFFF"/>
              </a:solidFill>
            </a:endParaRPr>
          </a:p>
        </p:txBody>
      </p:sp>
    </p:spTree>
  </p:cSld>
  <p:clrMapOvr>
    <a:masterClrMapping/>
  </p:clrMapOvr>
  <p:transition spd="slow"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>
            <a:extLst>
              <a:ext uri="{FF2B5EF4-FFF2-40B4-BE49-F238E27FC236}">
                <a16:creationId xmlns:a16="http://schemas.microsoft.com/office/drawing/2014/main" id="{82F2C644-98C3-6609-E5E1-94D36E81E41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s-ES_tradnl" altLang="es-AR"/>
              <a:t>Desventajas</a:t>
            </a:r>
          </a:p>
        </p:txBody>
      </p:sp>
      <p:sp>
        <p:nvSpPr>
          <p:cNvPr id="214019" name="Rectangle 3">
            <a:extLst>
              <a:ext uri="{FF2B5EF4-FFF2-40B4-BE49-F238E27FC236}">
                <a16:creationId xmlns:a16="http://schemas.microsoft.com/office/drawing/2014/main" id="{F6EB9D4B-16FC-21DD-94E3-53E6BCA4B146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566738" y="1752600"/>
            <a:ext cx="8577262" cy="4267200"/>
          </a:xfrm>
        </p:spPr>
        <p:txBody>
          <a:bodyPr rtlCol="0">
            <a:normAutofit lnSpcReduction="10000"/>
          </a:bodyPr>
          <a:lstStyle/>
          <a:p>
            <a:pPr marL="342906" indent="-342906" defTabSz="457207" eaLnBrk="1" fontAlgn="auto" hangingPunct="1"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Font typeface="Wingdings 3" charset="2"/>
              <a:buChar char=""/>
              <a:defRPr/>
            </a:pPr>
            <a:r>
              <a:rPr lang="es-ES_tradnl" altLang="es-AR" sz="2600"/>
              <a:t>La definición de la funcionalidad completa se debería hacer al principio</a:t>
            </a:r>
          </a:p>
          <a:p>
            <a:pPr marL="342906" indent="-342906" defTabSz="457207" eaLnBrk="1" fontAlgn="auto" hangingPunct="1"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Font typeface="Wingdings 3" charset="2"/>
              <a:buChar char=""/>
              <a:defRPr/>
            </a:pPr>
            <a:r>
              <a:rPr lang="es-ES_tradnl" altLang="es-AR" sz="2600"/>
              <a:t>Debido a que algunas partes del sistema se terminan antes que otras la forma de comunicación debe definirse muy bien</a:t>
            </a:r>
          </a:p>
          <a:p>
            <a:pPr marL="342906" indent="-342906" defTabSz="457207" eaLnBrk="1" fontAlgn="auto" hangingPunct="1"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Font typeface="Wingdings 3" charset="2"/>
              <a:buChar char=""/>
              <a:defRPr/>
            </a:pPr>
            <a:r>
              <a:rPr lang="es-ES_tradnl" altLang="es-AR" sz="2600"/>
              <a:t>Se puede tender a retrasar la solución de problemas</a:t>
            </a:r>
          </a:p>
          <a:p>
            <a:pPr marL="342906" indent="-342906" defTabSz="457207" eaLnBrk="1" fontAlgn="auto" hangingPunct="1"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Font typeface="Wingdings 3" charset="2"/>
              <a:buChar char=""/>
              <a:defRPr/>
            </a:pPr>
            <a:r>
              <a:rPr lang="es-ES_tradnl" altLang="es-AR" sz="2600"/>
              <a:t>El cliente debe entender que el costo total no será bajo</a:t>
            </a:r>
          </a:p>
          <a:p>
            <a:pPr marL="342906" indent="-342906" defTabSz="457207" eaLnBrk="1" fontAlgn="auto" hangingPunct="1"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Font typeface="Wingdings 3" charset="2"/>
              <a:buChar char=""/>
              <a:defRPr/>
            </a:pPr>
            <a:r>
              <a:rPr lang="es-ES_tradnl" altLang="es-AR" sz="2600"/>
              <a:t>Requiere un muy buen planeamiento y diseño</a:t>
            </a:r>
          </a:p>
        </p:txBody>
      </p:sp>
      <p:sp>
        <p:nvSpPr>
          <p:cNvPr id="5" name="Marcador de número de diapositiva 5">
            <a:extLst>
              <a:ext uri="{FF2B5EF4-FFF2-40B4-BE49-F238E27FC236}">
                <a16:creationId xmlns:a16="http://schemas.microsoft.com/office/drawing/2014/main" id="{B7A5B44F-60E0-E85D-F246-55C7D69ECB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500" u="sng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1500" u="sng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1500" u="sng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1500" u="sng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1500" u="sng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500" u="sng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500" u="sng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500" u="sng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500" u="sng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33F045D8-0E44-41A3-BFC4-DF52BBFDDDB3}" type="slidenum">
              <a:rPr lang="es-AR" altLang="es-AR" sz="2800">
                <a:solidFill>
                  <a:srgbClr val="FFFFFF"/>
                </a:solidFill>
              </a:rPr>
              <a:pPr/>
              <a:t>36</a:t>
            </a:fld>
            <a:endParaRPr lang="es-AR" altLang="es-AR" sz="2800">
              <a:solidFill>
                <a:srgbClr val="FFFFFF"/>
              </a:solidFill>
            </a:endParaRPr>
          </a:p>
        </p:txBody>
      </p:sp>
    </p:spTree>
  </p:cSld>
  <p:clrMapOvr>
    <a:masterClrMapping/>
  </p:clrMapOvr>
  <p:transition spd="slow"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>
            <a:extLst>
              <a:ext uri="{FF2B5EF4-FFF2-40B4-BE49-F238E27FC236}">
                <a16:creationId xmlns:a16="http://schemas.microsoft.com/office/drawing/2014/main" id="{4F166371-7A8B-6BFD-B291-7FDB12DFDE2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es-ES_tradnl" altLang="es-AR"/>
          </a:p>
        </p:txBody>
      </p:sp>
      <p:sp>
        <p:nvSpPr>
          <p:cNvPr id="45059" name="Rectangle 3">
            <a:extLst>
              <a:ext uri="{FF2B5EF4-FFF2-40B4-BE49-F238E27FC236}">
                <a16:creationId xmlns:a16="http://schemas.microsoft.com/office/drawing/2014/main" id="{C5FAED60-86DD-AFDD-68F3-A6F9C9ED07C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566738" y="1752600"/>
            <a:ext cx="8577262" cy="4267200"/>
          </a:xfrm>
        </p:spPr>
        <p:txBody>
          <a:bodyPr/>
          <a:lstStyle/>
          <a:p>
            <a:pPr eaLnBrk="1" hangingPunct="1"/>
            <a:r>
              <a:rPr lang="es-ES_tradnl" altLang="es-AR" sz="2600"/>
              <a:t>Eficacia</a:t>
            </a:r>
          </a:p>
          <a:p>
            <a:pPr lvl="1" eaLnBrk="1" hangingPunct="1"/>
            <a:r>
              <a:rPr lang="es-ES_tradnl" altLang="es-AR" sz="2000"/>
              <a:t>Reducción potencial de la planificación nominal (Ninguna)</a:t>
            </a:r>
          </a:p>
          <a:p>
            <a:pPr lvl="1" eaLnBrk="1" hangingPunct="1"/>
            <a:r>
              <a:rPr lang="es-ES_tradnl" altLang="es-AR" sz="2000"/>
              <a:t>Mejora en la visibilidad del proyecto (Buena)</a:t>
            </a:r>
          </a:p>
          <a:p>
            <a:pPr lvl="1" eaLnBrk="1" hangingPunct="1"/>
            <a:r>
              <a:rPr lang="es-ES_tradnl" altLang="es-AR" sz="2000"/>
              <a:t>Disminuye el riesgo</a:t>
            </a:r>
          </a:p>
          <a:p>
            <a:pPr eaLnBrk="1" hangingPunct="1"/>
            <a:r>
              <a:rPr lang="es-ES_tradnl" altLang="es-AR" sz="2600"/>
              <a:t>Riesgos principales</a:t>
            </a:r>
          </a:p>
          <a:p>
            <a:pPr lvl="1" eaLnBrk="1" hangingPunct="1"/>
            <a:r>
              <a:rPr lang="es-ES_tradnl" altLang="es-AR" sz="2000"/>
              <a:t>Cambio de prestaciones.</a:t>
            </a:r>
          </a:p>
        </p:txBody>
      </p:sp>
      <p:sp>
        <p:nvSpPr>
          <p:cNvPr id="5" name="Marcador de número de diapositiva 5">
            <a:extLst>
              <a:ext uri="{FF2B5EF4-FFF2-40B4-BE49-F238E27FC236}">
                <a16:creationId xmlns:a16="http://schemas.microsoft.com/office/drawing/2014/main" id="{E7C21B04-B271-014B-D17D-9901ADD86F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500" u="sng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1500" u="sng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1500" u="sng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1500" u="sng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1500" u="sng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500" u="sng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500" u="sng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500" u="sng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500" u="sng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18DF7059-EE68-448F-B81D-07A58ECDB0D2}" type="slidenum">
              <a:rPr lang="es-AR" altLang="es-AR" sz="2800">
                <a:solidFill>
                  <a:srgbClr val="FFFFFF"/>
                </a:solidFill>
              </a:rPr>
              <a:pPr/>
              <a:t>37</a:t>
            </a:fld>
            <a:endParaRPr lang="es-AR" altLang="es-AR" sz="2800">
              <a:solidFill>
                <a:srgbClr val="FFFFFF"/>
              </a:solidFill>
            </a:endParaRPr>
          </a:p>
        </p:txBody>
      </p:sp>
    </p:spTree>
  </p:cSld>
  <p:clrMapOvr>
    <a:masterClrMapping/>
  </p:clrMapOvr>
  <p:transition spd="slow"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>
            <a:extLst>
              <a:ext uri="{FF2B5EF4-FFF2-40B4-BE49-F238E27FC236}">
                <a16:creationId xmlns:a16="http://schemas.microsoft.com/office/drawing/2014/main" id="{40753C15-C4C5-0DDE-689E-CB6B91BC75C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es-ES_tradnl" altLang="es-AR"/>
          </a:p>
        </p:txBody>
      </p:sp>
      <p:sp>
        <p:nvSpPr>
          <p:cNvPr id="46083" name="Rectangle 3">
            <a:extLst>
              <a:ext uri="{FF2B5EF4-FFF2-40B4-BE49-F238E27FC236}">
                <a16:creationId xmlns:a16="http://schemas.microsoft.com/office/drawing/2014/main" id="{B59239A8-58E6-6DD8-AB36-EE5B1755C0B7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s-ES_tradnl" altLang="es-AR" sz="2600"/>
              <a:t>Claves para el éxito</a:t>
            </a:r>
            <a:endParaRPr lang="es-ES_tradnl" altLang="es-AR" sz="2400"/>
          </a:p>
          <a:p>
            <a:pPr lvl="1" eaLnBrk="1" hangingPunct="1"/>
            <a:r>
              <a:rPr lang="es-ES_tradnl" altLang="es-AR" sz="2000"/>
              <a:t>Definir la 1º entrega en forma que pueda entregarla tan pronto como pueda.</a:t>
            </a:r>
          </a:p>
          <a:p>
            <a:pPr lvl="1" eaLnBrk="1" hangingPunct="1"/>
            <a:r>
              <a:rPr lang="es-ES_tradnl" altLang="es-AR" sz="2000"/>
              <a:t>Entregar las etapas en orden de importancia.</a:t>
            </a:r>
          </a:p>
        </p:txBody>
      </p:sp>
      <p:sp>
        <p:nvSpPr>
          <p:cNvPr id="5" name="Marcador de número de diapositiva 5">
            <a:extLst>
              <a:ext uri="{FF2B5EF4-FFF2-40B4-BE49-F238E27FC236}">
                <a16:creationId xmlns:a16="http://schemas.microsoft.com/office/drawing/2014/main" id="{59E53F8E-7C1E-3DD1-659A-C0445365F2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500" u="sng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1500" u="sng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1500" u="sng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1500" u="sng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1500" u="sng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500" u="sng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500" u="sng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500" u="sng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500" u="sng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D62427C6-E1EF-4103-A82E-9DA801E5C084}" type="slidenum">
              <a:rPr lang="es-AR" altLang="es-AR" sz="2800">
                <a:solidFill>
                  <a:srgbClr val="FFFFFF"/>
                </a:solidFill>
              </a:rPr>
              <a:pPr/>
              <a:t>38</a:t>
            </a:fld>
            <a:endParaRPr lang="es-AR" altLang="es-AR" sz="2800">
              <a:solidFill>
                <a:srgbClr val="FFFFFF"/>
              </a:solidFill>
            </a:endParaRPr>
          </a:p>
        </p:txBody>
      </p:sp>
    </p:spTree>
  </p:cSld>
  <p:clrMapOvr>
    <a:masterClrMapping/>
  </p:clrMapOvr>
  <p:transition spd="slow"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>
            <a:extLst>
              <a:ext uri="{FF2B5EF4-FFF2-40B4-BE49-F238E27FC236}">
                <a16:creationId xmlns:a16="http://schemas.microsoft.com/office/drawing/2014/main" id="{451AD8DE-75A7-22FD-9710-E7BBEA0B8B9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s-ES_tradnl" altLang="es-AR"/>
              <a:t>Diseño por planificación</a:t>
            </a:r>
          </a:p>
        </p:txBody>
      </p:sp>
      <p:sp>
        <p:nvSpPr>
          <p:cNvPr id="5" name="Marcador de número de diapositiva 5">
            <a:extLst>
              <a:ext uri="{FF2B5EF4-FFF2-40B4-BE49-F238E27FC236}">
                <a16:creationId xmlns:a16="http://schemas.microsoft.com/office/drawing/2014/main" id="{74EA2259-A5B7-C4DC-C4BD-85CE580D56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500" u="sng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1500" u="sng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1500" u="sng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1500" u="sng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1500" u="sng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500" u="sng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500" u="sng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500" u="sng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500" u="sng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F9F9E6C5-793A-49D4-8C5B-2FE5A6603A7B}" type="slidenum">
              <a:rPr lang="es-AR" altLang="es-AR" sz="2800">
                <a:solidFill>
                  <a:srgbClr val="FFFFFF"/>
                </a:solidFill>
              </a:rPr>
              <a:pPr/>
              <a:t>39</a:t>
            </a:fld>
            <a:endParaRPr lang="es-AR" altLang="es-AR" sz="2800">
              <a:solidFill>
                <a:srgbClr val="FFFFFF"/>
              </a:solidFill>
            </a:endParaRPr>
          </a:p>
        </p:txBody>
      </p:sp>
      <p:graphicFrame>
        <p:nvGraphicFramePr>
          <p:cNvPr id="47108" name="Object 4">
            <a:extLst>
              <a:ext uri="{FF2B5EF4-FFF2-40B4-BE49-F238E27FC236}">
                <a16:creationId xmlns:a16="http://schemas.microsoft.com/office/drawing/2014/main" id="{547A9177-F97A-957C-275C-6191842E76A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143000" y="1600200"/>
          <a:ext cx="7467600" cy="472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7465433" imgH="4721024" progId="Visio.Drawing.5">
                  <p:embed/>
                </p:oleObj>
              </mc:Choice>
              <mc:Fallback>
                <p:oleObj name="VISIO" r:id="rId2" imgW="7465433" imgH="4721024" progId="Visio.Drawing.5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3000" y="1600200"/>
                        <a:ext cx="7467600" cy="472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>
            <a:extLst>
              <a:ext uri="{FF2B5EF4-FFF2-40B4-BE49-F238E27FC236}">
                <a16:creationId xmlns:a16="http://schemas.microsoft.com/office/drawing/2014/main" id="{946B5FAC-221F-54D3-0B1D-A72888EC010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s-ES_tradnl" altLang="es-AR"/>
              <a:t>Entrega evolutiva</a:t>
            </a:r>
          </a:p>
        </p:txBody>
      </p:sp>
      <p:sp>
        <p:nvSpPr>
          <p:cNvPr id="5" name="Marcador de número de diapositiva 5">
            <a:extLst>
              <a:ext uri="{FF2B5EF4-FFF2-40B4-BE49-F238E27FC236}">
                <a16:creationId xmlns:a16="http://schemas.microsoft.com/office/drawing/2014/main" id="{B2594320-FD43-8EDB-FA3E-0C69093B21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500" u="sng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1500" u="sng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1500" u="sng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1500" u="sng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1500" u="sng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500" u="sng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500" u="sng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500" u="sng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500" u="sng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B213DC38-DE5A-480B-B73D-A49480F376DE}" type="slidenum">
              <a:rPr lang="es-AR" altLang="es-AR" sz="2800">
                <a:solidFill>
                  <a:srgbClr val="FFFFFF"/>
                </a:solidFill>
              </a:rPr>
              <a:pPr/>
              <a:t>40</a:t>
            </a:fld>
            <a:endParaRPr lang="es-AR" altLang="es-AR" sz="2800">
              <a:solidFill>
                <a:srgbClr val="FFFFFF"/>
              </a:solidFill>
            </a:endParaRPr>
          </a:p>
        </p:txBody>
      </p:sp>
      <p:graphicFrame>
        <p:nvGraphicFramePr>
          <p:cNvPr id="48132" name="Object 4">
            <a:extLst>
              <a:ext uri="{FF2B5EF4-FFF2-40B4-BE49-F238E27FC236}">
                <a16:creationId xmlns:a16="http://schemas.microsoft.com/office/drawing/2014/main" id="{6BA896DC-4805-103D-FC82-E18C1E227A3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143000" y="1600200"/>
          <a:ext cx="7467600" cy="472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7465433" imgH="4721024" progId="Visio.Drawing.5">
                  <p:embed/>
                </p:oleObj>
              </mc:Choice>
              <mc:Fallback>
                <p:oleObj name="VISIO" r:id="rId2" imgW="7465433" imgH="4721024" progId="Visio.Drawing.5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3000" y="1600200"/>
                        <a:ext cx="7467600" cy="472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/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4">
            <a:extLst>
              <a:ext uri="{FF2B5EF4-FFF2-40B4-BE49-F238E27FC236}">
                <a16:creationId xmlns:a16="http://schemas.microsoft.com/office/drawing/2014/main" id="{240E2F57-36AA-8796-C835-2640A9C4BF1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es-ES_tradnl" altLang="es-AR"/>
          </a:p>
        </p:txBody>
      </p:sp>
      <p:sp>
        <p:nvSpPr>
          <p:cNvPr id="49155" name="Rectangle 3">
            <a:extLst>
              <a:ext uri="{FF2B5EF4-FFF2-40B4-BE49-F238E27FC236}">
                <a16:creationId xmlns:a16="http://schemas.microsoft.com/office/drawing/2014/main" id="{E43D085C-989F-6AF2-81ED-C0628F99FEEE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s-ES_tradnl" altLang="es-AR"/>
              <a:t>Equilibrio entre el control de la entrega por etapa y la flexibilidad del prototipado evolutivo.</a:t>
            </a:r>
          </a:p>
          <a:p>
            <a:pPr eaLnBrk="1" hangingPunct="1"/>
            <a:r>
              <a:rPr lang="es-ES_tradnl" altLang="es-AR"/>
              <a:t>Reduce el riesgo de entregar el producto que el cliente no desea</a:t>
            </a:r>
          </a:p>
          <a:p>
            <a:pPr eaLnBrk="1" hangingPunct="1"/>
            <a:r>
              <a:rPr lang="es-ES_tradnl" altLang="es-AR"/>
              <a:t>Hace visible el progreso</a:t>
            </a:r>
          </a:p>
          <a:p>
            <a:pPr eaLnBrk="1" hangingPunct="1"/>
            <a:r>
              <a:rPr lang="es-ES_tradnl" altLang="es-AR"/>
              <a:t>Reduce el error de estimación.</a:t>
            </a:r>
          </a:p>
          <a:p>
            <a:pPr eaLnBrk="1" hangingPunct="1"/>
            <a:r>
              <a:rPr lang="es-ES_tradnl" altLang="es-AR"/>
              <a:t>Reduce el riesgo de integración</a:t>
            </a:r>
          </a:p>
        </p:txBody>
      </p:sp>
      <p:sp>
        <p:nvSpPr>
          <p:cNvPr id="5" name="Marcador de número de diapositiva 5">
            <a:extLst>
              <a:ext uri="{FF2B5EF4-FFF2-40B4-BE49-F238E27FC236}">
                <a16:creationId xmlns:a16="http://schemas.microsoft.com/office/drawing/2014/main" id="{8CEF9811-625E-9003-BCC8-CC5DCD87FC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500" u="sng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1500" u="sng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1500" u="sng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1500" u="sng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1500" u="sng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500" u="sng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500" u="sng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500" u="sng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500" u="sng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1B64254E-4FE6-4902-AB01-4709E83E0B06}" type="slidenum">
              <a:rPr lang="es-AR" altLang="es-AR" sz="2800">
                <a:solidFill>
                  <a:srgbClr val="FFFFFF"/>
                </a:solidFill>
              </a:rPr>
              <a:pPr/>
              <a:t>41</a:t>
            </a:fld>
            <a:endParaRPr lang="es-AR" altLang="es-AR" sz="2800">
              <a:solidFill>
                <a:srgbClr val="FFFFFF"/>
              </a:solidFill>
            </a:endParaRPr>
          </a:p>
        </p:txBody>
      </p:sp>
    </p:spTree>
  </p:cSld>
  <p:clrMapOvr>
    <a:masterClrMapping/>
  </p:clrMapOvr>
  <p:transition spd="slow"/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>
            <a:extLst>
              <a:ext uri="{FF2B5EF4-FFF2-40B4-BE49-F238E27FC236}">
                <a16:creationId xmlns:a16="http://schemas.microsoft.com/office/drawing/2014/main" id="{9266868D-D41B-6FF3-567D-B06471D55D3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es-ES_tradnl" altLang="es-AR"/>
          </a:p>
        </p:txBody>
      </p:sp>
      <p:sp>
        <p:nvSpPr>
          <p:cNvPr id="50179" name="Rectangle 3">
            <a:extLst>
              <a:ext uri="{FF2B5EF4-FFF2-40B4-BE49-F238E27FC236}">
                <a16:creationId xmlns:a16="http://schemas.microsoft.com/office/drawing/2014/main" id="{B5EA36BB-FEEA-4C6C-DEEB-BBDD30B28190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s-ES_tradnl" altLang="es-AR"/>
              <a:t>Comienza con una idea de lo que se necesita</a:t>
            </a:r>
          </a:p>
          <a:p>
            <a:pPr eaLnBrk="1" hangingPunct="1"/>
            <a:r>
              <a:rPr lang="es-ES_tradnl" altLang="es-AR"/>
              <a:t>Es como ir de compra con una lista pero en el momento agregar nuevas cosas.</a:t>
            </a:r>
          </a:p>
        </p:txBody>
      </p:sp>
      <p:sp>
        <p:nvSpPr>
          <p:cNvPr id="5" name="Marcador de número de diapositiva 5">
            <a:extLst>
              <a:ext uri="{FF2B5EF4-FFF2-40B4-BE49-F238E27FC236}">
                <a16:creationId xmlns:a16="http://schemas.microsoft.com/office/drawing/2014/main" id="{A11243EB-2C93-7F6B-7BB2-3D40E6B01B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500" u="sng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1500" u="sng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1500" u="sng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1500" u="sng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1500" u="sng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500" u="sng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500" u="sng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500" u="sng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500" u="sng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269E43FD-14BB-486E-BE98-C182AFFA732C}" type="slidenum">
              <a:rPr lang="es-AR" altLang="es-AR" sz="2800">
                <a:solidFill>
                  <a:srgbClr val="FFFFFF"/>
                </a:solidFill>
              </a:rPr>
              <a:pPr/>
              <a:t>42</a:t>
            </a:fld>
            <a:endParaRPr lang="es-AR" altLang="es-AR" sz="2800">
              <a:solidFill>
                <a:srgbClr val="FFFFFF"/>
              </a:solidFill>
            </a:endParaRPr>
          </a:p>
        </p:txBody>
      </p:sp>
    </p:spTree>
  </p:cSld>
  <p:clrMapOvr>
    <a:masterClrMapping/>
  </p:clrMapOvr>
  <p:transition spd="slow"/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>
            <a:extLst>
              <a:ext uri="{FF2B5EF4-FFF2-40B4-BE49-F238E27FC236}">
                <a16:creationId xmlns:a16="http://schemas.microsoft.com/office/drawing/2014/main" id="{7FD2EEC4-8CA7-E974-10AF-455709BBF31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es-ES_tradnl" altLang="es-AR"/>
          </a:p>
        </p:txBody>
      </p:sp>
      <p:sp>
        <p:nvSpPr>
          <p:cNvPr id="51203" name="Rectangle 3">
            <a:extLst>
              <a:ext uri="{FF2B5EF4-FFF2-40B4-BE49-F238E27FC236}">
                <a16:creationId xmlns:a16="http://schemas.microsoft.com/office/drawing/2014/main" id="{6362455C-7C07-E462-FDED-4D3D0BC4762C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s-ES_tradnl" altLang="es-AR" sz="2600"/>
              <a:t>Riesgos</a:t>
            </a:r>
          </a:p>
          <a:p>
            <a:pPr lvl="1" eaLnBrk="1" hangingPunct="1"/>
            <a:r>
              <a:rPr lang="es-ES_tradnl" altLang="es-AR" sz="2000"/>
              <a:t>Expectativas poco realistas, debido al rápido progreso inicial.</a:t>
            </a:r>
          </a:p>
          <a:p>
            <a:pPr lvl="1" eaLnBrk="1" hangingPunct="1"/>
            <a:r>
              <a:rPr lang="es-ES_tradnl" altLang="es-AR" sz="2000"/>
              <a:t>Disminución del control del proyecto.</a:t>
            </a:r>
          </a:p>
          <a:p>
            <a:pPr lvl="1" eaLnBrk="1" hangingPunct="1"/>
            <a:r>
              <a:rPr lang="es-ES_tradnl" altLang="es-AR" sz="2000"/>
              <a:t>Cambio de prestaciones</a:t>
            </a:r>
          </a:p>
          <a:p>
            <a:pPr lvl="1" eaLnBrk="1" hangingPunct="1"/>
            <a:r>
              <a:rPr lang="es-ES_tradnl" altLang="es-AR" sz="2000"/>
              <a:t>Mala realimentación del usuario.</a:t>
            </a:r>
          </a:p>
          <a:p>
            <a:pPr lvl="1" eaLnBrk="1" hangingPunct="1"/>
            <a:r>
              <a:rPr lang="es-ES_tradnl" altLang="es-AR" sz="2000"/>
              <a:t>Expectativas poco realistas de rendimiento</a:t>
            </a:r>
          </a:p>
          <a:p>
            <a:pPr lvl="1" eaLnBrk="1" hangingPunct="1"/>
            <a:r>
              <a:rPr lang="es-ES_tradnl" altLang="es-AR" sz="2000"/>
              <a:t>Mal diseño</a:t>
            </a:r>
          </a:p>
        </p:txBody>
      </p:sp>
      <p:sp>
        <p:nvSpPr>
          <p:cNvPr id="5" name="Marcador de número de diapositiva 5">
            <a:extLst>
              <a:ext uri="{FF2B5EF4-FFF2-40B4-BE49-F238E27FC236}">
                <a16:creationId xmlns:a16="http://schemas.microsoft.com/office/drawing/2014/main" id="{FAD5348C-670C-D979-D764-FA7DDB2308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500" u="sng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1500" u="sng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1500" u="sng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1500" u="sng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1500" u="sng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500" u="sng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500" u="sng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500" u="sng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500" u="sng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7F3D0D1C-417F-4B31-961A-135CAA3694DB}" type="slidenum">
              <a:rPr lang="es-AR" altLang="es-AR" sz="2800">
                <a:solidFill>
                  <a:srgbClr val="FFFFFF"/>
                </a:solidFill>
              </a:rPr>
              <a:pPr/>
              <a:t>43</a:t>
            </a:fld>
            <a:endParaRPr lang="es-AR" altLang="es-AR" sz="2800">
              <a:solidFill>
                <a:srgbClr val="FFFFFF"/>
              </a:solidFill>
            </a:endParaRPr>
          </a:p>
        </p:txBody>
      </p:sp>
    </p:spTree>
  </p:cSld>
  <p:clrMapOvr>
    <a:masterClrMapping/>
  </p:clrMapOvr>
  <p:transition spd="slow"/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>
            <a:extLst>
              <a:ext uri="{FF2B5EF4-FFF2-40B4-BE49-F238E27FC236}">
                <a16:creationId xmlns:a16="http://schemas.microsoft.com/office/drawing/2014/main" id="{2FF5A1ED-85BA-AF20-FD65-9F01E69B656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es-ES_tradnl" altLang="es-AR"/>
          </a:p>
        </p:txBody>
      </p:sp>
      <p:sp>
        <p:nvSpPr>
          <p:cNvPr id="52227" name="Rectangle 3">
            <a:extLst>
              <a:ext uri="{FF2B5EF4-FFF2-40B4-BE49-F238E27FC236}">
                <a16:creationId xmlns:a16="http://schemas.microsoft.com/office/drawing/2014/main" id="{609F01D8-A711-975C-20EE-9F71564AA554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s-ES_tradnl" altLang="es-AR" sz="2600"/>
              <a:t>Claves para el éxito</a:t>
            </a:r>
          </a:p>
          <a:p>
            <a:pPr lvl="1" eaLnBrk="1" hangingPunct="1"/>
            <a:r>
              <a:rPr lang="es-ES_tradnl" altLang="es-AR" sz="2000"/>
              <a:t>Arquitectura pensada en todas las direcciones.</a:t>
            </a:r>
          </a:p>
          <a:p>
            <a:pPr lvl="1" eaLnBrk="1" hangingPunct="1"/>
            <a:r>
              <a:rPr lang="es-ES_tradnl" altLang="es-AR" sz="2000"/>
              <a:t>Definir con cuidado el núcleo del sistema</a:t>
            </a:r>
          </a:p>
          <a:p>
            <a:pPr lvl="1" eaLnBrk="1" hangingPunct="1"/>
            <a:r>
              <a:rPr lang="es-ES_tradnl" altLang="es-AR" sz="2000"/>
              <a:t>Decidir si se inclina mas hacia el prototipado evolutivo o entrega por etapas</a:t>
            </a:r>
          </a:p>
          <a:p>
            <a:pPr lvl="1" eaLnBrk="1" hangingPunct="1"/>
            <a:r>
              <a:rPr lang="es-ES_tradnl" altLang="es-AR" sz="2000"/>
              <a:t>Ordenar la funcionalidad desde la mas segura a la menos segura</a:t>
            </a:r>
          </a:p>
        </p:txBody>
      </p:sp>
      <p:sp>
        <p:nvSpPr>
          <p:cNvPr id="5" name="Marcador de número de diapositiva 5">
            <a:extLst>
              <a:ext uri="{FF2B5EF4-FFF2-40B4-BE49-F238E27FC236}">
                <a16:creationId xmlns:a16="http://schemas.microsoft.com/office/drawing/2014/main" id="{B0831F50-6365-E4C3-3B41-5DC4A475C3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500" u="sng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1500" u="sng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1500" u="sng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1500" u="sng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1500" u="sng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500" u="sng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500" u="sng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500" u="sng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500" u="sng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8DE2CB40-CD92-4B4F-937D-73F21F5633D8}" type="slidenum">
              <a:rPr lang="es-AR" altLang="es-AR" sz="2800">
                <a:solidFill>
                  <a:srgbClr val="FFFFFF"/>
                </a:solidFill>
              </a:rPr>
              <a:pPr/>
              <a:t>44</a:t>
            </a:fld>
            <a:endParaRPr lang="es-AR" altLang="es-AR" sz="2800">
              <a:solidFill>
                <a:srgbClr val="FFFFFF"/>
              </a:solidFill>
            </a:endParaRPr>
          </a:p>
        </p:txBody>
      </p:sp>
    </p:spTree>
  </p:cSld>
  <p:clrMapOvr>
    <a:masterClrMapping/>
  </p:clrMapOvr>
  <p:transition spd="slow"/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>
            <a:extLst>
              <a:ext uri="{FF2B5EF4-FFF2-40B4-BE49-F238E27FC236}">
                <a16:creationId xmlns:a16="http://schemas.microsoft.com/office/drawing/2014/main" id="{FB12F666-D83B-A6F5-AA30-D5F16634E21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s-ES_tradnl" altLang="es-AR"/>
              <a:t>Selección del modelo</a:t>
            </a:r>
          </a:p>
        </p:txBody>
      </p:sp>
      <p:sp>
        <p:nvSpPr>
          <p:cNvPr id="53251" name="Rectangle 3">
            <a:extLst>
              <a:ext uri="{FF2B5EF4-FFF2-40B4-BE49-F238E27FC236}">
                <a16:creationId xmlns:a16="http://schemas.microsoft.com/office/drawing/2014/main" id="{8DAE2F73-1811-D893-97B3-1A5F0BE9E786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lvl="1" eaLnBrk="1" hangingPunct="1"/>
            <a:r>
              <a:rPr lang="es-ES_tradnl" altLang="es-AR"/>
              <a:t>¿Me compenetro con el cliente en la especificación? ¿Es probable que cambien los requerimientos?</a:t>
            </a:r>
          </a:p>
          <a:p>
            <a:pPr lvl="1" eaLnBrk="1" hangingPunct="1"/>
            <a:r>
              <a:rPr lang="es-ES_tradnl" altLang="es-AR"/>
              <a:t>¿Comprendo la arquitectura?</a:t>
            </a:r>
          </a:p>
          <a:p>
            <a:pPr lvl="1" eaLnBrk="1" hangingPunct="1"/>
            <a:r>
              <a:rPr lang="es-ES_tradnl" altLang="es-AR"/>
              <a:t>¿Cuanta fiabilidad necesito?</a:t>
            </a:r>
          </a:p>
          <a:p>
            <a:pPr lvl="1" eaLnBrk="1" hangingPunct="1"/>
            <a:r>
              <a:rPr lang="es-ES_tradnl" altLang="es-AR"/>
              <a:t>¿Cuanto riesgo conlleva el proyecto?</a:t>
            </a:r>
          </a:p>
          <a:p>
            <a:pPr lvl="1" eaLnBrk="1" hangingPunct="1"/>
            <a:r>
              <a:rPr lang="es-ES_tradnl" altLang="es-AR"/>
              <a:t>¿Estoy sometido a una planificación predefinida?</a:t>
            </a:r>
          </a:p>
          <a:p>
            <a:pPr lvl="1" eaLnBrk="1" hangingPunct="1"/>
            <a:r>
              <a:rPr lang="es-ES_tradnl" altLang="es-AR"/>
              <a:t>¿Necesito proporcionar signos visibles?</a:t>
            </a:r>
          </a:p>
        </p:txBody>
      </p:sp>
      <p:sp>
        <p:nvSpPr>
          <p:cNvPr id="5" name="Marcador de número de diapositiva 5">
            <a:extLst>
              <a:ext uri="{FF2B5EF4-FFF2-40B4-BE49-F238E27FC236}">
                <a16:creationId xmlns:a16="http://schemas.microsoft.com/office/drawing/2014/main" id="{639EA8F4-D41F-EFAC-70D8-4E424EBFDA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500" u="sng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1500" u="sng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1500" u="sng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1500" u="sng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1500" u="sng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500" u="sng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500" u="sng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500" u="sng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500" u="sng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DA6E9A19-4993-478D-8DB7-AA35B7712E55}" type="slidenum">
              <a:rPr lang="es-AR" altLang="es-AR" sz="2800">
                <a:solidFill>
                  <a:srgbClr val="FFFFFF"/>
                </a:solidFill>
              </a:rPr>
              <a:pPr/>
              <a:t>45</a:t>
            </a:fld>
            <a:endParaRPr lang="es-AR" altLang="es-AR" sz="2800">
              <a:solidFill>
                <a:srgbClr val="FFFFFF"/>
              </a:solidFill>
            </a:endParaRPr>
          </a:p>
        </p:txBody>
      </p:sp>
    </p:spTree>
  </p:cSld>
  <p:clrMapOvr>
    <a:masterClrMapping/>
  </p:clrMapOvr>
  <p:transition spd="slow"/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>
            <a:extLst>
              <a:ext uri="{FF2B5EF4-FFF2-40B4-BE49-F238E27FC236}">
                <a16:creationId xmlns:a16="http://schemas.microsoft.com/office/drawing/2014/main" id="{73351EAF-E46D-CD89-AF09-9D44328B839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s-ES_tradnl" altLang="es-AR"/>
              <a:t>Bibliografía</a:t>
            </a:r>
          </a:p>
        </p:txBody>
      </p:sp>
      <p:sp>
        <p:nvSpPr>
          <p:cNvPr id="54275" name="Rectangle 3">
            <a:extLst>
              <a:ext uri="{FF2B5EF4-FFF2-40B4-BE49-F238E27FC236}">
                <a16:creationId xmlns:a16="http://schemas.microsoft.com/office/drawing/2014/main" id="{B1F38886-8EBC-6217-C55A-0547AD6BF257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s-ES_tradnl" altLang="es-AR"/>
              <a:t>Desarrollo y gestión de proyectos informáticos</a:t>
            </a:r>
            <a:br>
              <a:rPr lang="es-ES_tradnl" altLang="es-AR"/>
            </a:br>
            <a:r>
              <a:rPr lang="es-ES_tradnl" altLang="es-AR"/>
              <a:t>Steve McConnell</a:t>
            </a:r>
            <a:br>
              <a:rPr lang="es-ES_tradnl" altLang="es-AR"/>
            </a:br>
            <a:r>
              <a:rPr lang="es-ES_tradnl" altLang="es-AR"/>
              <a:t>Cap. 7-20-21-36</a:t>
            </a:r>
          </a:p>
        </p:txBody>
      </p:sp>
      <p:sp>
        <p:nvSpPr>
          <p:cNvPr id="5" name="Marcador de número de diapositiva 5">
            <a:extLst>
              <a:ext uri="{FF2B5EF4-FFF2-40B4-BE49-F238E27FC236}">
                <a16:creationId xmlns:a16="http://schemas.microsoft.com/office/drawing/2014/main" id="{6169150E-A65D-FC28-5777-76CF196DC6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500" u="sng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1500" u="sng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1500" u="sng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1500" u="sng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1500" u="sng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500" u="sng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500" u="sng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500" u="sng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500" u="sng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7A728405-47BE-451E-B98C-39E203C40533}" type="slidenum">
              <a:rPr lang="es-AR" altLang="es-AR" sz="2800">
                <a:solidFill>
                  <a:srgbClr val="FFFFFF"/>
                </a:solidFill>
              </a:rPr>
              <a:pPr/>
              <a:t>46</a:t>
            </a:fld>
            <a:endParaRPr lang="es-AR" altLang="es-AR" sz="2800">
              <a:solidFill>
                <a:srgbClr val="FFFFFF"/>
              </a:solidFill>
            </a:endParaRPr>
          </a:p>
        </p:txBody>
      </p:sp>
    </p:spTree>
  </p:cSld>
  <p:clrMapOvr>
    <a:masterClrMapping/>
  </p:clrMapOvr>
  <p:transition spd="slow"/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F9C9D"/>
      </a:accent5>
      <a:accent6>
        <a:srgbClr val="9E5E9B"/>
      </a:accent6>
      <a:hlink>
        <a:srgbClr val="58C1BA"/>
      </a:hlink>
      <a:folHlink>
        <a:srgbClr val="9DD0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ppt/theme/theme2.xml><?xml version="1.0" encoding="utf-8"?>
<a:theme xmlns:a="http://schemas.openxmlformats.org/drawingml/2006/main" name="Tema d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1125</TotalTime>
  <Words>1558</Words>
  <Application>Microsoft Office PowerPoint</Application>
  <PresentationFormat>Presentación en pantalla (4:3)</PresentationFormat>
  <Paragraphs>285</Paragraphs>
  <Slides>46</Slides>
  <Notes>1</Notes>
  <HiddenSlides>0</HiddenSlides>
  <MMClips>0</MMClips>
  <ScaleCrop>false</ScaleCrop>
  <HeadingPairs>
    <vt:vector size="8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Servidores OLE incrustados</vt:lpstr>
      </vt:variant>
      <vt:variant>
        <vt:i4>1</vt:i4>
      </vt:variant>
      <vt:variant>
        <vt:lpstr>Títulos de diapositiva</vt:lpstr>
      </vt:variant>
      <vt:variant>
        <vt:i4>46</vt:i4>
      </vt:variant>
    </vt:vector>
  </HeadingPairs>
  <TitlesOfParts>
    <vt:vector size="54" baseType="lpstr">
      <vt:lpstr>Verdana</vt:lpstr>
      <vt:lpstr>Arial</vt:lpstr>
      <vt:lpstr>Century Gothic</vt:lpstr>
      <vt:lpstr>Wingdings 3</vt:lpstr>
      <vt:lpstr>Times New Roman</vt:lpstr>
      <vt:lpstr>Wingdings</vt:lpstr>
      <vt:lpstr>Ion</vt:lpstr>
      <vt:lpstr>VISIO 5 Drawing</vt:lpstr>
      <vt:lpstr>Ingeniería de Software</vt:lpstr>
      <vt:lpstr>Objetivos</vt:lpstr>
      <vt:lpstr>Introducción</vt:lpstr>
      <vt:lpstr>Proceso</vt:lpstr>
      <vt:lpstr>Características de un proceso</vt:lpstr>
      <vt:lpstr>Ciclo de vida de software</vt:lpstr>
      <vt:lpstr>Etapas en el desarrollo de soft</vt:lpstr>
      <vt:lpstr>Modelos de procesos de software</vt:lpstr>
      <vt:lpstr>Modelo en cascada</vt:lpstr>
      <vt:lpstr>Presentación de PowerPoint</vt:lpstr>
      <vt:lpstr>Presentación de PowerPoint</vt:lpstr>
      <vt:lpstr>Ventajas</vt:lpstr>
      <vt:lpstr>Desventajas</vt:lpstr>
      <vt:lpstr>El modelo en V</vt:lpstr>
      <vt:lpstr>Presentación de PowerPoint</vt:lpstr>
      <vt:lpstr>Ventajas</vt:lpstr>
      <vt:lpstr>Desventajas</vt:lpstr>
      <vt:lpstr>Codificar y corregir</vt:lpstr>
      <vt:lpstr>Espiral</vt:lpstr>
      <vt:lpstr>Presentación de PowerPoint</vt:lpstr>
      <vt:lpstr>Ventajas</vt:lpstr>
      <vt:lpstr>Desventajas</vt:lpstr>
      <vt:lpstr>Cascada modificado (Sashimi)</vt:lpstr>
      <vt:lpstr>Presentación de PowerPoint</vt:lpstr>
      <vt:lpstr>Cascada con subproyectos</vt:lpstr>
      <vt:lpstr>Presentación de PowerPoint</vt:lpstr>
      <vt:lpstr>Prototipado evolutivo</vt:lpstr>
      <vt:lpstr>Presentación de PowerPoint</vt:lpstr>
      <vt:lpstr>Ventajas</vt:lpstr>
      <vt:lpstr>Desventajas</vt:lpstr>
      <vt:lpstr>Presentación de PowerPoint</vt:lpstr>
      <vt:lpstr>Presentación de PowerPoint</vt:lpstr>
      <vt:lpstr>Entrega por etapas</vt:lpstr>
      <vt:lpstr>Presentación de PowerPoint</vt:lpstr>
      <vt:lpstr>Ventajas</vt:lpstr>
      <vt:lpstr>Desventajas</vt:lpstr>
      <vt:lpstr>Presentación de PowerPoint</vt:lpstr>
      <vt:lpstr>Presentación de PowerPoint</vt:lpstr>
      <vt:lpstr>Diseño por planificación</vt:lpstr>
      <vt:lpstr>Entrega evolutiva</vt:lpstr>
      <vt:lpstr>Presentación de PowerPoint</vt:lpstr>
      <vt:lpstr>Presentación de PowerPoint</vt:lpstr>
      <vt:lpstr>Presentación de PowerPoint</vt:lpstr>
      <vt:lpstr>Presentación de PowerPoint</vt:lpstr>
      <vt:lpstr>Selección del modelo</vt:lpstr>
      <vt:lpstr>Bibliografía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Ingenieria en Software</dc:title>
  <dc:creator>Daniel Battistelli</dc:creator>
  <cp:lastModifiedBy>Asus</cp:lastModifiedBy>
  <cp:revision>223</cp:revision>
  <cp:lastPrinted>2004-03-31T22:13:20Z</cp:lastPrinted>
  <dcterms:created xsi:type="dcterms:W3CDTF">1999-04-07T14:46:03Z</dcterms:created>
  <dcterms:modified xsi:type="dcterms:W3CDTF">2026-07-01T12:45:41Z</dcterms:modified>
</cp:coreProperties>
</file>